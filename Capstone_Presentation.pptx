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sp>
      <p:sp>
        <p:nvSpPr>
          <p:cNvPr id="3" name="Shape 1"/>
          <p:cNvSpPr/>
          <p:nvPr/>
        </p:nvSpPr>
        <p:spPr>
          <a:xfrm>
            <a:off x="7132320" y="731520"/>
            <a:ext cx="2560320" cy="2560320"/>
          </a:xfrm>
          <a:prstGeom prst="ellipse">
            <a:avLst/>
          </a:prstGeom>
          <a:solidFill>
            <a:srgbClr val="2D6A4F">
              <a:alpha val="50000"/>
            </a:srgbClr>
          </a:solidFill>
          <a:ln w="12700">
            <a:solidFill>
              <a:srgbClr val="52B788"/>
            </a:solidFill>
            <a:prstDash val="solid"/>
          </a:ln>
        </p:spPr>
      </p:sp>
      <p:sp>
        <p:nvSpPr>
          <p:cNvPr id="4" name="Shape 2"/>
          <p:cNvSpPr/>
          <p:nvPr/>
        </p:nvSpPr>
        <p:spPr>
          <a:xfrm>
            <a:off x="7498080" y="1097280"/>
            <a:ext cx="1828800" cy="1828800"/>
          </a:xfrm>
          <a:prstGeom prst="ellipse">
            <a:avLst/>
          </a:prstGeom>
          <a:solidFill>
            <a:srgbClr val="52B788">
              <a:alpha val="40000"/>
            </a:srgbClr>
          </a:solidFill>
          <a:ln w="12700">
            <a:solidFill>
              <a:srgbClr val="D4A017"/>
            </a:solidFill>
            <a:prstDash val="solid"/>
          </a:ln>
        </p:spPr>
      </p:sp>
      <p:sp>
        <p:nvSpPr>
          <p:cNvPr id="5" name="Text 3"/>
          <p:cNvSpPr/>
          <p:nvPr/>
        </p:nvSpPr>
        <p:spPr>
          <a:xfrm>
            <a:off x="457200" y="228600"/>
            <a:ext cx="6858000" cy="365760"/>
          </a:xfrm>
          <a:prstGeom prst="rect">
            <a:avLst/>
          </a:prstGeom>
          <a:noFill/>
          <a:ln/>
        </p:spPr>
        <p:txBody>
          <a:bodyPr wrap="square" rtlCol="0" anchor="ctr"/>
          <a:lstStyle/>
          <a:p>
            <a:pPr indent="0" marL="0">
              <a:buNone/>
            </a:pPr>
            <a:r>
              <a:rPr lang="en-US" sz="1000" b="1" spc="150" kern="0" dirty="0">
                <a:solidFill>
                  <a:srgbClr val="D4A017"/>
                </a:solidFill>
                <a:latin typeface="Calibri" pitchFamily="34" charset="0"/>
                <a:ea typeface="Calibri" pitchFamily="34" charset="-122"/>
                <a:cs typeface="Calibri" pitchFamily="34" charset="-120"/>
              </a:rPr>
              <a:t>UNIVERSITY OF AGRICULTURAL SCIENCES, BENGALURU</a:t>
            </a:r>
            <a:endParaRPr lang="en-US" sz="1000" dirty="0"/>
          </a:p>
        </p:txBody>
      </p:sp>
      <p:sp>
        <p:nvSpPr>
          <p:cNvPr id="6" name="Shape 4"/>
          <p:cNvSpPr/>
          <p:nvPr/>
        </p:nvSpPr>
        <p:spPr>
          <a:xfrm>
            <a:off x="457200" y="685800"/>
            <a:ext cx="3200400" cy="320040"/>
          </a:xfrm>
          <a:prstGeom prst="rect">
            <a:avLst/>
          </a:prstGeom>
          <a:solidFill>
            <a:srgbClr val="52B788">
              <a:alpha val="70000"/>
            </a:srgbClr>
          </a:solidFill>
          <a:ln w="12700">
            <a:solidFill>
              <a:srgbClr val="52B788"/>
            </a:solidFill>
            <a:prstDash val="solid"/>
          </a:ln>
        </p:spPr>
      </p:sp>
      <p:sp>
        <p:nvSpPr>
          <p:cNvPr id="7" name="Text 5"/>
          <p:cNvSpPr/>
          <p:nvPr/>
        </p:nvSpPr>
        <p:spPr>
          <a:xfrm>
            <a:off x="457200" y="685800"/>
            <a:ext cx="3200400" cy="32004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EAI-421 | AI &amp; ML in Agriculture (0+10)</a:t>
            </a:r>
            <a:endParaRPr lang="en-US" sz="900" dirty="0"/>
          </a:p>
        </p:txBody>
      </p:sp>
      <p:sp>
        <p:nvSpPr>
          <p:cNvPr id="8" name="Text 6"/>
          <p:cNvSpPr/>
          <p:nvPr/>
        </p:nvSpPr>
        <p:spPr>
          <a:xfrm>
            <a:off x="457200" y="1188720"/>
            <a:ext cx="7315200" cy="457200"/>
          </a:xfrm>
          <a:prstGeom prst="rect">
            <a:avLst/>
          </a:prstGeom>
          <a:noFill/>
          <a:ln/>
        </p:spPr>
        <p:txBody>
          <a:bodyPr wrap="square" rtlCol="0" anchor="ctr"/>
          <a:lstStyle/>
          <a:p>
            <a:pPr indent="0" marL="0">
              <a:buNone/>
            </a:pPr>
            <a:r>
              <a:rPr lang="en-US" sz="2000" i="1" dirty="0">
                <a:solidFill>
                  <a:srgbClr val="95D5B2"/>
                </a:solidFill>
                <a:latin typeface="Georgia" pitchFamily="34" charset="0"/>
                <a:ea typeface="Georgia" pitchFamily="34" charset="-122"/>
                <a:cs typeface="Georgia" pitchFamily="34" charset="-120"/>
              </a:rPr>
              <a:t>Study on the Effect of</a:t>
            </a:r>
            <a:endParaRPr lang="en-US" sz="2000" dirty="0"/>
          </a:p>
        </p:txBody>
      </p:sp>
      <p:sp>
        <p:nvSpPr>
          <p:cNvPr id="9" name="Text 7"/>
          <p:cNvSpPr/>
          <p:nvPr/>
        </p:nvSpPr>
        <p:spPr>
          <a:xfrm>
            <a:off x="457200" y="1600200"/>
            <a:ext cx="7772400" cy="6858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Time of Application of Nitrogen</a:t>
            </a:r>
            <a:endParaRPr lang="en-US" sz="3400" dirty="0"/>
          </a:p>
        </p:txBody>
      </p:sp>
      <p:sp>
        <p:nvSpPr>
          <p:cNvPr id="10" name="Text 8"/>
          <p:cNvSpPr/>
          <p:nvPr/>
        </p:nvSpPr>
        <p:spPr>
          <a:xfrm>
            <a:off x="457200" y="2240280"/>
            <a:ext cx="7772400" cy="548640"/>
          </a:xfrm>
          <a:prstGeom prst="rect">
            <a:avLst/>
          </a:prstGeom>
          <a:noFill/>
          <a:ln/>
        </p:spPr>
        <p:txBody>
          <a:bodyPr wrap="square" rtlCol="0" anchor="ctr"/>
          <a:lstStyle/>
          <a:p>
            <a:pPr indent="0" marL="0">
              <a:buNone/>
            </a:pPr>
            <a:r>
              <a:rPr lang="en-US" sz="2600" b="1" dirty="0">
                <a:solidFill>
                  <a:srgbClr val="D4A017"/>
                </a:solidFill>
                <a:latin typeface="Georgia" pitchFamily="34" charset="0"/>
                <a:ea typeface="Georgia" pitchFamily="34" charset="-122"/>
                <a:cs typeface="Georgia" pitchFamily="34" charset="-120"/>
              </a:rPr>
              <a:t>on Growth &amp; Development of Chickpea</a:t>
            </a:r>
            <a:endParaRPr lang="en-US" sz="2600" dirty="0"/>
          </a:p>
        </p:txBody>
      </p:sp>
      <p:sp>
        <p:nvSpPr>
          <p:cNvPr id="11" name="Text 9"/>
          <p:cNvSpPr/>
          <p:nvPr/>
        </p:nvSpPr>
        <p:spPr>
          <a:xfrm>
            <a:off x="457200" y="2743200"/>
            <a:ext cx="5486400" cy="365760"/>
          </a:xfrm>
          <a:prstGeom prst="rect">
            <a:avLst/>
          </a:prstGeom>
          <a:noFill/>
          <a:ln/>
        </p:spPr>
        <p:txBody>
          <a:bodyPr wrap="square" rtlCol="0" anchor="ctr"/>
          <a:lstStyle/>
          <a:p>
            <a:pPr indent="0" marL="0">
              <a:buNone/>
            </a:pPr>
            <a:r>
              <a:rPr lang="en-US" sz="1500" i="1" dirty="0">
                <a:solidFill>
                  <a:srgbClr val="95D5B2"/>
                </a:solidFill>
                <a:latin typeface="Georgia" pitchFamily="34" charset="0"/>
                <a:ea typeface="Georgia" pitchFamily="34" charset="-122"/>
                <a:cs typeface="Georgia" pitchFamily="34" charset="-120"/>
              </a:rPr>
              <a:t>(Cicer arietinum L.)</a:t>
            </a:r>
            <a:endParaRPr lang="en-US" sz="1500" dirty="0"/>
          </a:p>
        </p:txBody>
      </p:sp>
      <p:sp>
        <p:nvSpPr>
          <p:cNvPr id="12" name="Shape 10"/>
          <p:cNvSpPr/>
          <p:nvPr/>
        </p:nvSpPr>
        <p:spPr>
          <a:xfrm>
            <a:off x="457200" y="3200400"/>
            <a:ext cx="4572000" cy="27432"/>
          </a:xfrm>
          <a:prstGeom prst="rect">
            <a:avLst/>
          </a:prstGeom>
          <a:solidFill>
            <a:srgbClr val="D4A017"/>
          </a:solidFill>
          <a:ln w="12700">
            <a:solidFill>
              <a:srgbClr val="D4A017"/>
            </a:solidFill>
            <a:prstDash val="solid"/>
          </a:ln>
        </p:spPr>
      </p:sp>
      <p:sp>
        <p:nvSpPr>
          <p:cNvPr id="13" name="Text 11"/>
          <p:cNvSpPr/>
          <p:nvPr/>
        </p:nvSpPr>
        <p:spPr>
          <a:xfrm>
            <a:off x="457200" y="3337560"/>
            <a:ext cx="3657600" cy="274320"/>
          </a:xfrm>
          <a:prstGeom prst="rect">
            <a:avLst/>
          </a:prstGeom>
          <a:noFill/>
          <a:ln/>
        </p:spPr>
        <p:txBody>
          <a:bodyPr wrap="square" rtlCol="0" anchor="ctr"/>
          <a:lstStyle/>
          <a:p>
            <a:pPr indent="0" marL="0">
              <a:buNone/>
            </a:pPr>
            <a:r>
              <a:rPr lang="en-US" sz="900" b="1" spc="200" kern="0" dirty="0">
                <a:solidFill>
                  <a:srgbClr val="D4A017"/>
                </a:solidFill>
                <a:latin typeface="Calibri" pitchFamily="34" charset="0"/>
                <a:ea typeface="Calibri" pitchFamily="34" charset="-122"/>
                <a:cs typeface="Calibri" pitchFamily="34" charset="-120"/>
              </a:rPr>
              <a:t>TEAM MEMBERS</a:t>
            </a:r>
            <a:endParaRPr lang="en-US" sz="900" dirty="0"/>
          </a:p>
        </p:txBody>
      </p:sp>
      <p:sp>
        <p:nvSpPr>
          <p:cNvPr id="14" name="Text 12"/>
          <p:cNvSpPr/>
          <p:nvPr/>
        </p:nvSpPr>
        <p:spPr>
          <a:xfrm>
            <a:off x="457200" y="3611880"/>
            <a:ext cx="731520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Vijay M D</a:t>
            </a:r>
            <a:pPr indent="0" marL="0">
              <a:buNone/>
            </a:pPr>
            <a:r>
              <a:rPr lang="en-US" sz="1100" dirty="0">
                <a:solidFill>
                  <a:srgbClr val="FFFFFF"/>
                </a:solidFill>
                <a:latin typeface="Calibri" pitchFamily="34" charset="0"/>
                <a:ea typeface="Calibri" pitchFamily="34" charset="-122"/>
                <a:cs typeface="Calibri" pitchFamily="34" charset="-120"/>
              </a:rPr>
              <a:t> — AMB2294   </a:t>
            </a:r>
            <a:pPr indent="0" marL="0">
              <a:buNone/>
            </a:pPr>
            <a:r>
              <a:rPr lang="en-US" sz="1100" b="1" dirty="0">
                <a:solidFill>
                  <a:srgbClr val="FFFFFF"/>
                </a:solidFill>
                <a:latin typeface="Calibri" pitchFamily="34" charset="0"/>
                <a:ea typeface="Calibri" pitchFamily="34" charset="-122"/>
                <a:cs typeface="Calibri" pitchFamily="34" charset="-120"/>
              </a:rPr>
              <a:t>Kiran Kumar N</a:t>
            </a:r>
            <a:pPr indent="0" marL="0">
              <a:buNone/>
            </a:pPr>
            <a:r>
              <a:rPr lang="en-US" sz="1100" dirty="0">
                <a:solidFill>
                  <a:srgbClr val="FFFFFF"/>
                </a:solidFill>
                <a:latin typeface="Calibri" pitchFamily="34" charset="0"/>
                <a:ea typeface="Calibri" pitchFamily="34" charset="-122"/>
                <a:cs typeface="Calibri" pitchFamily="34" charset="-120"/>
              </a:rPr>
              <a:t> — BMB2024   </a:t>
            </a:r>
            <a:pPr indent="0" marL="0">
              <a:buNone/>
            </a:pPr>
            <a:r>
              <a:rPr lang="en-US" sz="1100" b="1" dirty="0">
                <a:solidFill>
                  <a:srgbClr val="FFFFFF"/>
                </a:solidFill>
                <a:latin typeface="Calibri" pitchFamily="34" charset="0"/>
                <a:ea typeface="Calibri" pitchFamily="34" charset="-122"/>
                <a:cs typeface="Calibri" pitchFamily="34" charset="-120"/>
              </a:rPr>
              <a:t>Vikas H P</a:t>
            </a:r>
            <a:pPr indent="0" marL="0">
              <a:buNone/>
            </a:pPr>
            <a:r>
              <a:rPr lang="en-US" sz="1100" dirty="0">
                <a:solidFill>
                  <a:srgbClr val="FFFFFF"/>
                </a:solidFill>
                <a:latin typeface="Calibri" pitchFamily="34" charset="0"/>
                <a:ea typeface="Calibri" pitchFamily="34" charset="-122"/>
                <a:cs typeface="Calibri" pitchFamily="34" charset="-120"/>
              </a:rPr>
              <a:t> — AMB2298</a:t>
            </a:r>
            <a:endParaRPr lang="en-US" sz="1100" dirty="0"/>
          </a:p>
        </p:txBody>
      </p:sp>
      <p:sp>
        <p:nvSpPr>
          <p:cNvPr id="15" name="Text 13"/>
          <p:cNvSpPr/>
          <p:nvPr/>
        </p:nvSpPr>
        <p:spPr>
          <a:xfrm>
            <a:off x="457200" y="4114800"/>
            <a:ext cx="8229600" cy="274320"/>
          </a:xfrm>
          <a:prstGeom prst="rect">
            <a:avLst/>
          </a:prstGeom>
          <a:noFill/>
          <a:ln/>
        </p:spPr>
        <p:txBody>
          <a:bodyPr wrap="square" rtlCol="0" anchor="ctr"/>
          <a:lstStyle/>
          <a:p>
            <a:pPr indent="0" marL="0">
              <a:buNone/>
            </a:pPr>
            <a:r>
              <a:rPr lang="en-US" sz="900" i="1" dirty="0">
                <a:solidFill>
                  <a:srgbClr val="636E72"/>
                </a:solidFill>
                <a:latin typeface="Calibri" pitchFamily="34" charset="0"/>
                <a:ea typeface="Calibri" pitchFamily="34" charset="-122"/>
                <a:cs typeface="Calibri" pitchFamily="34" charset="-120"/>
              </a:rPr>
              <a:t>Submitted to: Course Teacher, AI &amp; ML in Agriculture | COA, UAS GKVK, Bengaluru | Rabi 2024</a:t>
            </a:r>
            <a:endParaRPr lang="en-US" sz="900" dirty="0"/>
          </a:p>
        </p:txBody>
      </p:sp>
      <p:sp>
        <p:nvSpPr>
          <p:cNvPr id="16" name="Shape 14"/>
          <p:cNvSpPr/>
          <p:nvPr/>
        </p:nvSpPr>
        <p:spPr>
          <a:xfrm>
            <a:off x="0" y="4864608"/>
            <a:ext cx="9144000" cy="292608"/>
          </a:xfrm>
          <a:prstGeom prst="rect">
            <a:avLst/>
          </a:prstGeom>
          <a:solidFill>
            <a:srgbClr val="2D6A4F"/>
          </a:solidFill>
          <a:ln w="12700">
            <a:solidFill>
              <a:srgbClr val="2D6A4F"/>
            </a:solidFill>
            <a:prstDash val="solid"/>
          </a:ln>
        </p:spPr>
      </p:sp>
      <p:sp>
        <p:nvSpPr>
          <p:cNvPr id="17" name="Text 15"/>
          <p:cNvSpPr/>
          <p:nvPr/>
        </p:nvSpPr>
        <p:spPr>
          <a:xfrm>
            <a:off x="182880" y="4873752"/>
            <a:ext cx="8778240" cy="274320"/>
          </a:xfrm>
          <a:prstGeom prst="rect">
            <a:avLst/>
          </a:prstGeom>
          <a:noFill/>
          <a:ln/>
        </p:spPr>
        <p:txBody>
          <a:bodyPr wrap="square" rtlCol="0" anchor="ctr"/>
          <a:lstStyle/>
          <a:p>
            <a:pPr algn="ctr" indent="0" marL="0">
              <a:buNone/>
            </a:pPr>
            <a:r>
              <a:rPr lang="en-US" sz="850" dirty="0">
                <a:solidFill>
                  <a:srgbClr val="95D5B2"/>
                </a:solidFill>
                <a:latin typeface="Calibri" pitchFamily="34" charset="0"/>
                <a:ea typeface="Calibri" pitchFamily="34" charset="-122"/>
                <a:cs typeface="Calibri" pitchFamily="34" charset="-120"/>
              </a:rPr>
              <a:t>ZARS, GKVK, UAS Bengaluru  ·  Red Sandy Loam Soil (pH 6.56)  ·  5 Treatments × 4 Replications  ·  RCBD Design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01</a:t>
            </a:r>
            <a:endParaRPr lang="en-US" sz="3600" dirty="0"/>
          </a:p>
        </p:txBody>
      </p:sp>
      <p:sp>
        <p:nvSpPr>
          <p:cNvPr id="5" name="Text 3"/>
          <p:cNvSpPr/>
          <p:nvPr/>
        </p:nvSpPr>
        <p:spPr>
          <a:xfrm>
            <a:off x="1097280" y="164592"/>
            <a:ext cx="7315200" cy="5029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INTRODUCTION</a:t>
            </a:r>
            <a:endParaRPr lang="en-US" sz="2800" dirty="0"/>
          </a:p>
        </p:txBody>
      </p:sp>
      <p:sp>
        <p:nvSpPr>
          <p:cNvPr id="6" name="Shape 4"/>
          <p:cNvSpPr/>
          <p:nvPr/>
        </p:nvSpPr>
        <p:spPr>
          <a:xfrm>
            <a:off x="274320" y="1051560"/>
            <a:ext cx="4023360" cy="356616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051560"/>
            <a:ext cx="4023360" cy="411480"/>
          </a:xfrm>
          <a:prstGeom prst="rect">
            <a:avLst/>
          </a:prstGeom>
          <a:solidFill>
            <a:srgbClr val="2D6A4F"/>
          </a:solidFill>
          <a:ln w="12700">
            <a:solidFill>
              <a:srgbClr val="2D6A4F"/>
            </a:solidFill>
            <a:prstDash val="solid"/>
          </a:ln>
        </p:spPr>
      </p:sp>
      <p:sp>
        <p:nvSpPr>
          <p:cNvPr id="8" name="Text 6"/>
          <p:cNvSpPr/>
          <p:nvPr/>
        </p:nvSpPr>
        <p:spPr>
          <a:xfrm>
            <a:off x="320040" y="1069848"/>
            <a:ext cx="3931920" cy="37490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The Challenge</a:t>
            </a:r>
            <a:endParaRPr lang="en-US" sz="1300" dirty="0"/>
          </a:p>
        </p:txBody>
      </p:sp>
      <p:sp>
        <p:nvSpPr>
          <p:cNvPr id="9" name="Text 7"/>
          <p:cNvSpPr/>
          <p:nvPr/>
        </p:nvSpPr>
        <p:spPr>
          <a:xfrm>
            <a:off x="457200" y="1508760"/>
            <a:ext cx="3749040" cy="3017520"/>
          </a:xfrm>
          <a:prstGeom prst="rect">
            <a:avLst/>
          </a:prstGeom>
          <a:noFill/>
          <a:ln/>
        </p:spPr>
        <p:txBody>
          <a:bodyPr wrap="square" rtlCol="0" anchor="ctr"/>
          <a:lstStyle/>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Agriculture employs 50%+ of India's rural workforce yet faces:</a:t>
            </a:r>
            <a:endParaRPr lang="en-US" sz="1100" dirty="0"/>
          </a:p>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 </a:t>
            </a:r>
            <a:endParaRPr lang="en-US" sz="1100" dirty="0"/>
          </a:p>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  Climate variability &amp; unpredictable weather</a:t>
            </a:r>
            <a:endParaRPr lang="en-US" sz="1100" dirty="0"/>
          </a:p>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  Resource inefficiency &amp; fertilizer waste</a:t>
            </a:r>
            <a:endParaRPr lang="en-US" sz="1100" dirty="0"/>
          </a:p>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  Stagnant productivity levels</a:t>
            </a:r>
            <a:endParaRPr lang="en-US" sz="1100" dirty="0"/>
          </a:p>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 </a:t>
            </a:r>
            <a:endParaRPr lang="en-US" sz="1100" dirty="0"/>
          </a:p>
          <a:p>
            <a:pPr indent="0" marL="0">
              <a:spcAft>
                <a:spcPts val="200"/>
              </a:spcAft>
              <a:buNone/>
            </a:pPr>
            <a:r>
              <a:rPr lang="en-US" sz="1100" dirty="0">
                <a:solidFill>
                  <a:srgbClr val="2D3436"/>
                </a:solidFill>
                <a:latin typeface="Calibri" pitchFamily="34" charset="0"/>
                <a:ea typeface="Calibri" pitchFamily="34" charset="-122"/>
                <a:cs typeface="Calibri" pitchFamily="34" charset="-120"/>
              </a:rPr>
              <a:t>Global food demand is expected to rise 50% by 2050 (FAO, 2023), demanding smarter, data-driven farming.</a:t>
            </a:r>
            <a:endParaRPr lang="en-US" sz="1100" dirty="0"/>
          </a:p>
        </p:txBody>
      </p:sp>
      <p:sp>
        <p:nvSpPr>
          <p:cNvPr id="10" name="Shape 8"/>
          <p:cNvSpPr/>
          <p:nvPr/>
        </p:nvSpPr>
        <p:spPr>
          <a:xfrm>
            <a:off x="4846320" y="1051560"/>
            <a:ext cx="4023360" cy="3566160"/>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846320" y="1051560"/>
            <a:ext cx="4023360" cy="411480"/>
          </a:xfrm>
          <a:prstGeom prst="rect">
            <a:avLst/>
          </a:prstGeom>
          <a:solidFill>
            <a:srgbClr val="D4A017"/>
          </a:solidFill>
          <a:ln w="12700">
            <a:solidFill>
              <a:srgbClr val="D4A017"/>
            </a:solidFill>
            <a:prstDash val="solid"/>
          </a:ln>
        </p:spPr>
      </p:sp>
      <p:sp>
        <p:nvSpPr>
          <p:cNvPr id="12" name="Text 10"/>
          <p:cNvSpPr/>
          <p:nvPr/>
        </p:nvSpPr>
        <p:spPr>
          <a:xfrm>
            <a:off x="4892040" y="1069848"/>
            <a:ext cx="3931920" cy="37490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AI &amp; ML as the Solution</a:t>
            </a:r>
            <a:endParaRPr lang="en-US" sz="1300" dirty="0"/>
          </a:p>
        </p:txBody>
      </p:sp>
      <p:sp>
        <p:nvSpPr>
          <p:cNvPr id="13" name="Text 11"/>
          <p:cNvSpPr/>
          <p:nvPr/>
        </p:nvSpPr>
        <p:spPr>
          <a:xfrm>
            <a:off x="4983480" y="1554480"/>
            <a:ext cx="3749040" cy="438912"/>
          </a:xfrm>
          <a:prstGeom prst="rect">
            <a:avLst/>
          </a:prstGeom>
          <a:noFill/>
          <a:ln/>
        </p:spPr>
        <p:txBody>
          <a:bodyPr wrap="square" rtlCol="0" anchor="ctr"/>
          <a:lstStyle/>
          <a:p>
            <a:pPr indent="0" marL="0">
              <a:buNone/>
            </a:pPr>
            <a:r>
              <a:rPr lang="en-US" sz="1050" dirty="0">
                <a:solidFill>
                  <a:srgbClr val="2D3436"/>
                </a:solidFill>
                <a:latin typeface="Calibri" pitchFamily="34" charset="0"/>
                <a:ea typeface="Calibri" pitchFamily="34" charset="-122"/>
                <a:cs typeface="Calibri" pitchFamily="34" charset="-120"/>
              </a:rPr>
              <a:t>📌 Precision Nutrient Management via AI algorithms</a:t>
            </a:r>
            <a:endParaRPr lang="en-US" sz="1050" dirty="0"/>
          </a:p>
        </p:txBody>
      </p:sp>
      <p:sp>
        <p:nvSpPr>
          <p:cNvPr id="14" name="Text 12"/>
          <p:cNvSpPr/>
          <p:nvPr/>
        </p:nvSpPr>
        <p:spPr>
          <a:xfrm>
            <a:off x="4983480" y="2029968"/>
            <a:ext cx="3749040" cy="438912"/>
          </a:xfrm>
          <a:prstGeom prst="rect">
            <a:avLst/>
          </a:prstGeom>
          <a:noFill/>
          <a:ln/>
        </p:spPr>
        <p:txBody>
          <a:bodyPr wrap="square" rtlCol="0" anchor="ctr"/>
          <a:lstStyle/>
          <a:p>
            <a:pPr indent="0" marL="0">
              <a:buNone/>
            </a:pPr>
            <a:r>
              <a:rPr lang="en-US" sz="1050" dirty="0">
                <a:solidFill>
                  <a:srgbClr val="2D3436"/>
                </a:solidFill>
                <a:latin typeface="Calibri" pitchFamily="34" charset="0"/>
                <a:ea typeface="Calibri" pitchFamily="34" charset="-122"/>
                <a:cs typeface="Calibri" pitchFamily="34" charset="-120"/>
              </a:rPr>
              <a:t>📌 Remote Sensing &amp; Drone Analytics with deep learning</a:t>
            </a:r>
            <a:endParaRPr lang="en-US" sz="1050" dirty="0"/>
          </a:p>
        </p:txBody>
      </p:sp>
      <p:sp>
        <p:nvSpPr>
          <p:cNvPr id="15" name="Text 13"/>
          <p:cNvSpPr/>
          <p:nvPr/>
        </p:nvSpPr>
        <p:spPr>
          <a:xfrm>
            <a:off x="4983480" y="2505456"/>
            <a:ext cx="3749040" cy="438912"/>
          </a:xfrm>
          <a:prstGeom prst="rect">
            <a:avLst/>
          </a:prstGeom>
          <a:noFill/>
          <a:ln/>
        </p:spPr>
        <p:txBody>
          <a:bodyPr wrap="square" rtlCol="0" anchor="ctr"/>
          <a:lstStyle/>
          <a:p>
            <a:pPr indent="0" marL="0">
              <a:buNone/>
            </a:pPr>
            <a:r>
              <a:rPr lang="en-US" sz="1050" dirty="0">
                <a:solidFill>
                  <a:srgbClr val="2D3436"/>
                </a:solidFill>
                <a:latin typeface="Calibri" pitchFamily="34" charset="0"/>
                <a:ea typeface="Calibri" pitchFamily="34" charset="-122"/>
                <a:cs typeface="Calibri" pitchFamily="34" charset="-120"/>
              </a:rPr>
              <a:t>📌 IoT-Enabled Smart Farming with real-time data</a:t>
            </a:r>
            <a:endParaRPr lang="en-US" sz="1050" dirty="0"/>
          </a:p>
        </p:txBody>
      </p:sp>
      <p:sp>
        <p:nvSpPr>
          <p:cNvPr id="16" name="Text 14"/>
          <p:cNvSpPr/>
          <p:nvPr/>
        </p:nvSpPr>
        <p:spPr>
          <a:xfrm>
            <a:off x="4983480" y="2980944"/>
            <a:ext cx="3749040" cy="438912"/>
          </a:xfrm>
          <a:prstGeom prst="rect">
            <a:avLst/>
          </a:prstGeom>
          <a:noFill/>
          <a:ln/>
        </p:spPr>
        <p:txBody>
          <a:bodyPr wrap="square" rtlCol="0" anchor="ctr"/>
          <a:lstStyle/>
          <a:p>
            <a:pPr indent="0" marL="0">
              <a:buNone/>
            </a:pPr>
            <a:r>
              <a:rPr lang="en-US" sz="1050" dirty="0">
                <a:solidFill>
                  <a:srgbClr val="2D3436"/>
                </a:solidFill>
                <a:latin typeface="Calibri" pitchFamily="34" charset="0"/>
                <a:ea typeface="Calibri" pitchFamily="34" charset="-122"/>
                <a:cs typeface="Calibri" pitchFamily="34" charset="-120"/>
              </a:rPr>
              <a:t>📌 Predictive Yield Modeling (Random Forest, GBM)</a:t>
            </a:r>
            <a:endParaRPr lang="en-US" sz="1050" dirty="0"/>
          </a:p>
        </p:txBody>
      </p:sp>
      <p:sp>
        <p:nvSpPr>
          <p:cNvPr id="17" name="Text 15"/>
          <p:cNvSpPr/>
          <p:nvPr/>
        </p:nvSpPr>
        <p:spPr>
          <a:xfrm>
            <a:off x="4983480" y="3456432"/>
            <a:ext cx="3749040" cy="438912"/>
          </a:xfrm>
          <a:prstGeom prst="rect">
            <a:avLst/>
          </a:prstGeom>
          <a:noFill/>
          <a:ln/>
        </p:spPr>
        <p:txBody>
          <a:bodyPr wrap="square" rtlCol="0" anchor="ctr"/>
          <a:lstStyle/>
          <a:p>
            <a:pPr indent="0" marL="0">
              <a:buNone/>
            </a:pPr>
            <a:r>
              <a:rPr lang="en-US" sz="1050" dirty="0">
                <a:solidFill>
                  <a:srgbClr val="2D3436"/>
                </a:solidFill>
                <a:latin typeface="Calibri" pitchFamily="34" charset="0"/>
                <a:ea typeface="Calibri" pitchFamily="34" charset="-122"/>
                <a:cs typeface="Calibri" pitchFamily="34" charset="-120"/>
              </a:rPr>
              <a:t>📌 NLP-powered Farmer Advisory chatbots</a:t>
            </a:r>
            <a:endParaRPr lang="en-US" sz="1050" dirty="0"/>
          </a:p>
        </p:txBody>
      </p:sp>
      <p:sp>
        <p:nvSpPr>
          <p:cNvPr id="18" name="Shape 16"/>
          <p:cNvSpPr/>
          <p:nvPr/>
        </p:nvSpPr>
        <p:spPr>
          <a:xfrm>
            <a:off x="274320" y="4663440"/>
            <a:ext cx="8595360" cy="384048"/>
          </a:xfrm>
          <a:prstGeom prst="rect">
            <a:avLst/>
          </a:prstGeom>
          <a:solidFill>
            <a:srgbClr val="1B4332"/>
          </a:solidFill>
          <a:ln w="12700">
            <a:solidFill>
              <a:srgbClr val="1B4332"/>
            </a:solidFill>
            <a:prstDash val="solid"/>
          </a:ln>
        </p:spPr>
      </p:sp>
      <p:sp>
        <p:nvSpPr>
          <p:cNvPr id="19" name="Text 17"/>
          <p:cNvSpPr/>
          <p:nvPr/>
        </p:nvSpPr>
        <p:spPr>
          <a:xfrm>
            <a:off x="365760" y="4663440"/>
            <a:ext cx="8412480" cy="384048"/>
          </a:xfrm>
          <a:prstGeom prst="rect">
            <a:avLst/>
          </a:prstGeom>
          <a:noFill/>
          <a:ln/>
        </p:spPr>
        <p:txBody>
          <a:bodyPr wrap="square" rtlCol="0" anchor="ctr"/>
          <a:lstStyle/>
          <a:p>
            <a:pPr indent="0" marL="0">
              <a:buNone/>
            </a:pPr>
            <a:r>
              <a:rPr lang="en-US" sz="1050" b="1" dirty="0">
                <a:solidFill>
                  <a:srgbClr val="D4A017"/>
                </a:solidFill>
                <a:latin typeface="Calibri" pitchFamily="34" charset="0"/>
                <a:ea typeface="Calibri" pitchFamily="34" charset="-122"/>
                <a:cs typeface="Calibri" pitchFamily="34" charset="-120"/>
              </a:rPr>
              <a:t>📍  This Project: Optimal Nitrogen timing in Chickpea using ML — combining field experiments with predictive modeling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02</a:t>
            </a:r>
            <a:endParaRPr lang="en-US" sz="3600" dirty="0"/>
          </a:p>
        </p:txBody>
      </p:sp>
      <p:sp>
        <p:nvSpPr>
          <p:cNvPr id="5" name="Text 3"/>
          <p:cNvSpPr/>
          <p:nvPr/>
        </p:nvSpPr>
        <p:spPr>
          <a:xfrm>
            <a:off x="1097280" y="164592"/>
            <a:ext cx="7315200" cy="5029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OBJECTIVES</a:t>
            </a:r>
            <a:endParaRPr lang="en-US" sz="2800" dirty="0"/>
          </a:p>
        </p:txBody>
      </p:sp>
      <p:sp>
        <p:nvSpPr>
          <p:cNvPr id="6" name="Shape 4"/>
          <p:cNvSpPr/>
          <p:nvPr/>
        </p:nvSpPr>
        <p:spPr>
          <a:xfrm>
            <a:off x="274320" y="1005840"/>
            <a:ext cx="2697480" cy="3977640"/>
          </a:xfrm>
          <a:prstGeom prst="rect">
            <a:avLst/>
          </a:prstGeom>
          <a:solidFill>
            <a:srgbClr val="FFFFFF"/>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005840"/>
            <a:ext cx="2697480" cy="457200"/>
          </a:xfrm>
          <a:prstGeom prst="rect">
            <a:avLst/>
          </a:prstGeom>
          <a:solidFill>
            <a:srgbClr val="2D6A4F"/>
          </a:solidFill>
          <a:ln w="12700">
            <a:solidFill>
              <a:srgbClr val="2D6A4F"/>
            </a:solidFill>
            <a:prstDash val="solid"/>
          </a:ln>
        </p:spPr>
      </p:sp>
      <p:sp>
        <p:nvSpPr>
          <p:cNvPr id="8" name="Text 6"/>
          <p:cNvSpPr/>
          <p:nvPr/>
        </p:nvSpPr>
        <p:spPr>
          <a:xfrm>
            <a:off x="365760" y="1024128"/>
            <a:ext cx="2514600" cy="42062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Objective 01</a:t>
            </a:r>
            <a:endParaRPr lang="en-US" sz="1000" dirty="0"/>
          </a:p>
        </p:txBody>
      </p:sp>
      <p:sp>
        <p:nvSpPr>
          <p:cNvPr id="9" name="Text 7"/>
          <p:cNvSpPr/>
          <p:nvPr/>
        </p:nvSpPr>
        <p:spPr>
          <a:xfrm>
            <a:off x="365760" y="1508760"/>
            <a:ext cx="640080" cy="594360"/>
          </a:xfrm>
          <a:prstGeom prst="rect">
            <a:avLst/>
          </a:prstGeom>
          <a:noFill/>
          <a:ln/>
        </p:spPr>
        <p:txBody>
          <a:bodyPr wrap="square" rtlCol="0" anchor="ctr"/>
          <a:lstStyle/>
          <a:p>
            <a:pPr indent="0" marL="0">
              <a:buNone/>
            </a:pPr>
            <a:r>
              <a:rPr lang="en-US" sz="3800" b="1" dirty="0">
                <a:solidFill>
                  <a:srgbClr val="2D6A4F"/>
                </a:solidFill>
                <a:latin typeface="Georgia" pitchFamily="34" charset="0"/>
                <a:ea typeface="Georgia" pitchFamily="34" charset="-122"/>
                <a:cs typeface="Georgia" pitchFamily="34" charset="-120"/>
              </a:rPr>
              <a:t>01</a:t>
            </a:r>
            <a:endParaRPr lang="en-US" sz="3800" dirty="0"/>
          </a:p>
        </p:txBody>
      </p:sp>
      <p:sp>
        <p:nvSpPr>
          <p:cNvPr id="10" name="Text 8"/>
          <p:cNvSpPr/>
          <p:nvPr/>
        </p:nvSpPr>
        <p:spPr>
          <a:xfrm>
            <a:off x="365760" y="2194560"/>
            <a:ext cx="2514600" cy="411480"/>
          </a:xfrm>
          <a:prstGeom prst="rect">
            <a:avLst/>
          </a:prstGeom>
          <a:noFill/>
          <a:ln/>
        </p:spPr>
        <p:txBody>
          <a:bodyPr wrap="square" rtlCol="0" anchor="ctr"/>
          <a:lstStyle/>
          <a:p>
            <a:pPr indent="0" marL="0">
              <a:buNone/>
            </a:pPr>
            <a:r>
              <a:rPr lang="en-US" sz="1400" b="1" dirty="0">
                <a:solidFill>
                  <a:srgbClr val="2D6A4F"/>
                </a:solidFill>
                <a:latin typeface="Georgia" pitchFamily="34" charset="0"/>
                <a:ea typeface="Georgia" pitchFamily="34" charset="-122"/>
                <a:cs typeface="Georgia" pitchFamily="34" charset="-120"/>
              </a:rPr>
              <a:t>Predictive ML Model</a:t>
            </a:r>
            <a:endParaRPr lang="en-US" sz="1400" dirty="0"/>
          </a:p>
        </p:txBody>
      </p:sp>
      <p:sp>
        <p:nvSpPr>
          <p:cNvPr id="11" name="Shape 9"/>
          <p:cNvSpPr/>
          <p:nvPr/>
        </p:nvSpPr>
        <p:spPr>
          <a:xfrm>
            <a:off x="365760" y="2624328"/>
            <a:ext cx="2514600" cy="27432"/>
          </a:xfrm>
          <a:prstGeom prst="rect">
            <a:avLst/>
          </a:prstGeom>
          <a:solidFill>
            <a:srgbClr val="2D6A4F"/>
          </a:solidFill>
          <a:ln w="12700">
            <a:solidFill>
              <a:srgbClr val="2D6A4F"/>
            </a:solidFill>
            <a:prstDash val="solid"/>
          </a:ln>
        </p:spPr>
      </p:sp>
      <p:sp>
        <p:nvSpPr>
          <p:cNvPr id="12" name="Text 10"/>
          <p:cNvSpPr/>
          <p:nvPr/>
        </p:nvSpPr>
        <p:spPr>
          <a:xfrm>
            <a:off x="365760" y="2679192"/>
            <a:ext cx="2514600" cy="274320"/>
          </a:xfrm>
          <a:prstGeom prst="rect">
            <a:avLst/>
          </a:prstGeom>
          <a:noFill/>
          <a:ln/>
        </p:spPr>
        <p:txBody>
          <a:bodyPr wrap="square" rtlCol="0" anchor="ctr"/>
          <a:lstStyle/>
          <a:p>
            <a:pPr indent="0" marL="0">
              <a:buNone/>
            </a:pPr>
            <a:r>
              <a:rPr lang="en-US" sz="950" i="1" dirty="0">
                <a:solidFill>
                  <a:srgbClr val="636E72"/>
                </a:solidFill>
                <a:latin typeface="Calibri" pitchFamily="34" charset="0"/>
                <a:ea typeface="Calibri" pitchFamily="34" charset="-122"/>
                <a:cs typeface="Calibri" pitchFamily="34" charset="-120"/>
              </a:rPr>
              <a:t>Nitrogen Timing Optimization</a:t>
            </a:r>
            <a:endParaRPr lang="en-US" sz="950" dirty="0"/>
          </a:p>
        </p:txBody>
      </p:sp>
      <p:sp>
        <p:nvSpPr>
          <p:cNvPr id="13" name="Text 11"/>
          <p:cNvSpPr/>
          <p:nvPr/>
        </p:nvSpPr>
        <p:spPr>
          <a:xfrm>
            <a:off x="365760" y="3017520"/>
            <a:ext cx="2514600" cy="1828800"/>
          </a:xfrm>
          <a:prstGeom prst="rect">
            <a:avLst/>
          </a:prstGeom>
          <a:noFill/>
          <a:ln/>
        </p:spPr>
        <p:txBody>
          <a:bodyPr wrap="square" rtlCol="0" anchor="t"/>
          <a:lstStyle/>
          <a:p>
            <a:pPr indent="0" marL="0">
              <a:spcAft>
                <a:spcPts val="300"/>
              </a:spcAft>
              <a:buNone/>
            </a:pPr>
            <a:r>
              <a:rPr lang="en-US" sz="1000" dirty="0">
                <a:solidFill>
                  <a:srgbClr val="2D3436"/>
                </a:solidFill>
                <a:latin typeface="Calibri" pitchFamily="34" charset="0"/>
                <a:ea typeface="Calibri" pitchFamily="34" charset="-122"/>
                <a:cs typeface="Calibri" pitchFamily="34" charset="-120"/>
              </a:rPr>
              <a:t>Design and implement Random Forest and Neural Network models trained on field experimental data to predict the optimal nitrogen split application schedule (basal, 30 DAS, 45 DAS) for maximizing chickpea growth parameters.</a:t>
            </a:r>
            <a:endParaRPr lang="en-US" sz="1000" dirty="0"/>
          </a:p>
        </p:txBody>
      </p:sp>
      <p:sp>
        <p:nvSpPr>
          <p:cNvPr id="14" name="Shape 12"/>
          <p:cNvSpPr/>
          <p:nvPr/>
        </p:nvSpPr>
        <p:spPr>
          <a:xfrm>
            <a:off x="3154680" y="1005840"/>
            <a:ext cx="2697480" cy="3977640"/>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154680" y="1005840"/>
            <a:ext cx="2697480" cy="457200"/>
          </a:xfrm>
          <a:prstGeom prst="rect">
            <a:avLst/>
          </a:prstGeom>
          <a:solidFill>
            <a:srgbClr val="D4A017"/>
          </a:solidFill>
          <a:ln w="12700">
            <a:solidFill>
              <a:srgbClr val="D4A017"/>
            </a:solidFill>
            <a:prstDash val="solid"/>
          </a:ln>
        </p:spPr>
      </p:sp>
      <p:sp>
        <p:nvSpPr>
          <p:cNvPr id="16" name="Text 14"/>
          <p:cNvSpPr/>
          <p:nvPr/>
        </p:nvSpPr>
        <p:spPr>
          <a:xfrm>
            <a:off x="3246120" y="1024128"/>
            <a:ext cx="2514600" cy="42062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Objective 02</a:t>
            </a:r>
            <a:endParaRPr lang="en-US" sz="1000" dirty="0"/>
          </a:p>
        </p:txBody>
      </p:sp>
      <p:sp>
        <p:nvSpPr>
          <p:cNvPr id="17" name="Text 15"/>
          <p:cNvSpPr/>
          <p:nvPr/>
        </p:nvSpPr>
        <p:spPr>
          <a:xfrm>
            <a:off x="3246120" y="1508760"/>
            <a:ext cx="640080" cy="594360"/>
          </a:xfrm>
          <a:prstGeom prst="rect">
            <a:avLst/>
          </a:prstGeom>
          <a:noFill/>
          <a:ln/>
        </p:spPr>
        <p:txBody>
          <a:bodyPr wrap="square" rtlCol="0" anchor="ctr"/>
          <a:lstStyle/>
          <a:p>
            <a:pPr indent="0" marL="0">
              <a:buNone/>
            </a:pPr>
            <a:r>
              <a:rPr lang="en-US" sz="3800" b="1" dirty="0">
                <a:solidFill>
                  <a:srgbClr val="D4A017"/>
                </a:solidFill>
                <a:latin typeface="Georgia" pitchFamily="34" charset="0"/>
                <a:ea typeface="Georgia" pitchFamily="34" charset="-122"/>
                <a:cs typeface="Georgia" pitchFamily="34" charset="-120"/>
              </a:rPr>
              <a:t>02</a:t>
            </a:r>
            <a:endParaRPr lang="en-US" sz="3800" dirty="0"/>
          </a:p>
        </p:txBody>
      </p:sp>
      <p:sp>
        <p:nvSpPr>
          <p:cNvPr id="18" name="Text 16"/>
          <p:cNvSpPr/>
          <p:nvPr/>
        </p:nvSpPr>
        <p:spPr>
          <a:xfrm>
            <a:off x="3246120" y="2194560"/>
            <a:ext cx="2514600" cy="411480"/>
          </a:xfrm>
          <a:prstGeom prst="rect">
            <a:avLst/>
          </a:prstGeom>
          <a:noFill/>
          <a:ln/>
        </p:spPr>
        <p:txBody>
          <a:bodyPr wrap="square" rtlCol="0" anchor="ctr"/>
          <a:lstStyle/>
          <a:p>
            <a:pPr indent="0" marL="0">
              <a:buNone/>
            </a:pPr>
            <a:r>
              <a:rPr lang="en-US" sz="1400" b="1" dirty="0">
                <a:solidFill>
                  <a:srgbClr val="D4A017"/>
                </a:solidFill>
                <a:latin typeface="Georgia" pitchFamily="34" charset="0"/>
                <a:ea typeface="Georgia" pitchFamily="34" charset="-122"/>
                <a:cs typeface="Georgia" pitchFamily="34" charset="-120"/>
              </a:rPr>
              <a:t>Quantify Impact</a:t>
            </a:r>
            <a:endParaRPr lang="en-US" sz="1400" dirty="0"/>
          </a:p>
        </p:txBody>
      </p:sp>
      <p:sp>
        <p:nvSpPr>
          <p:cNvPr id="19" name="Shape 17"/>
          <p:cNvSpPr/>
          <p:nvPr/>
        </p:nvSpPr>
        <p:spPr>
          <a:xfrm>
            <a:off x="3246120" y="2624328"/>
            <a:ext cx="2514600" cy="27432"/>
          </a:xfrm>
          <a:prstGeom prst="rect">
            <a:avLst/>
          </a:prstGeom>
          <a:solidFill>
            <a:srgbClr val="D4A017"/>
          </a:solidFill>
          <a:ln w="12700">
            <a:solidFill>
              <a:srgbClr val="D4A017"/>
            </a:solidFill>
            <a:prstDash val="solid"/>
          </a:ln>
        </p:spPr>
      </p:sp>
      <p:sp>
        <p:nvSpPr>
          <p:cNvPr id="20" name="Text 18"/>
          <p:cNvSpPr/>
          <p:nvPr/>
        </p:nvSpPr>
        <p:spPr>
          <a:xfrm>
            <a:off x="3246120" y="2679192"/>
            <a:ext cx="2514600" cy="274320"/>
          </a:xfrm>
          <a:prstGeom prst="rect">
            <a:avLst/>
          </a:prstGeom>
          <a:noFill/>
          <a:ln/>
        </p:spPr>
        <p:txBody>
          <a:bodyPr wrap="square" rtlCol="0" anchor="ctr"/>
          <a:lstStyle/>
          <a:p>
            <a:pPr indent="0" marL="0">
              <a:buNone/>
            </a:pPr>
            <a:r>
              <a:rPr lang="en-US" sz="950" i="1" dirty="0">
                <a:solidFill>
                  <a:srgbClr val="636E72"/>
                </a:solidFill>
                <a:latin typeface="Calibri" pitchFamily="34" charset="0"/>
                <a:ea typeface="Calibri" pitchFamily="34" charset="-122"/>
                <a:cs typeface="Calibri" pitchFamily="34" charset="-120"/>
              </a:rPr>
              <a:t>Growth &amp; Yield Analysis</a:t>
            </a:r>
            <a:endParaRPr lang="en-US" sz="950" dirty="0"/>
          </a:p>
        </p:txBody>
      </p:sp>
      <p:sp>
        <p:nvSpPr>
          <p:cNvPr id="21" name="Text 19"/>
          <p:cNvSpPr/>
          <p:nvPr/>
        </p:nvSpPr>
        <p:spPr>
          <a:xfrm>
            <a:off x="3246120" y="3017520"/>
            <a:ext cx="2514600" cy="1828800"/>
          </a:xfrm>
          <a:prstGeom prst="rect">
            <a:avLst/>
          </a:prstGeom>
          <a:noFill/>
          <a:ln/>
        </p:spPr>
        <p:txBody>
          <a:bodyPr wrap="square" rtlCol="0" anchor="t"/>
          <a:lstStyle/>
          <a:p>
            <a:pPr indent="0" marL="0">
              <a:spcAft>
                <a:spcPts val="300"/>
              </a:spcAft>
              <a:buNone/>
            </a:pPr>
            <a:r>
              <a:rPr lang="en-US" sz="1000" dirty="0">
                <a:solidFill>
                  <a:srgbClr val="2D3436"/>
                </a:solidFill>
                <a:latin typeface="Calibri" pitchFamily="34" charset="0"/>
                <a:ea typeface="Calibri" pitchFamily="34" charset="-122"/>
                <a:cs typeface="Calibri" pitchFamily="34" charset="-120"/>
              </a:rPr>
              <a:t>Evaluate and compare AIML-recommended nitrogen timing treatments (T3, T4) against conventional practices (T1 – control, T2 – 100% basal) using ANOVA-based statistical analysis across key agronomic parameters.</a:t>
            </a:r>
            <a:endParaRPr lang="en-US" sz="1000" dirty="0"/>
          </a:p>
        </p:txBody>
      </p:sp>
      <p:sp>
        <p:nvSpPr>
          <p:cNvPr id="22" name="Shape 20"/>
          <p:cNvSpPr/>
          <p:nvPr/>
        </p:nvSpPr>
        <p:spPr>
          <a:xfrm>
            <a:off x="6035040" y="1005840"/>
            <a:ext cx="2697480" cy="3977640"/>
          </a:xfrm>
          <a:prstGeom prst="rect">
            <a:avLst/>
          </a:prstGeom>
          <a:solidFill>
            <a:srgbClr val="FFFFFF"/>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6035040" y="1005840"/>
            <a:ext cx="2697480" cy="457200"/>
          </a:xfrm>
          <a:prstGeom prst="rect">
            <a:avLst/>
          </a:prstGeom>
          <a:solidFill>
            <a:srgbClr val="1B4332"/>
          </a:solidFill>
          <a:ln w="12700">
            <a:solidFill>
              <a:srgbClr val="1B4332"/>
            </a:solidFill>
            <a:prstDash val="solid"/>
          </a:ln>
        </p:spPr>
      </p:sp>
      <p:sp>
        <p:nvSpPr>
          <p:cNvPr id="24" name="Text 22"/>
          <p:cNvSpPr/>
          <p:nvPr/>
        </p:nvSpPr>
        <p:spPr>
          <a:xfrm>
            <a:off x="6126480" y="1024128"/>
            <a:ext cx="2514600" cy="42062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Objective 03</a:t>
            </a:r>
            <a:endParaRPr lang="en-US" sz="1000" dirty="0"/>
          </a:p>
        </p:txBody>
      </p:sp>
      <p:sp>
        <p:nvSpPr>
          <p:cNvPr id="25" name="Text 23"/>
          <p:cNvSpPr/>
          <p:nvPr/>
        </p:nvSpPr>
        <p:spPr>
          <a:xfrm>
            <a:off x="6126480" y="1508760"/>
            <a:ext cx="640080" cy="594360"/>
          </a:xfrm>
          <a:prstGeom prst="rect">
            <a:avLst/>
          </a:prstGeom>
          <a:noFill/>
          <a:ln/>
        </p:spPr>
        <p:txBody>
          <a:bodyPr wrap="square" rtlCol="0" anchor="ctr"/>
          <a:lstStyle/>
          <a:p>
            <a:pPr indent="0" marL="0">
              <a:buNone/>
            </a:pPr>
            <a:r>
              <a:rPr lang="en-US" sz="3800" b="1" dirty="0">
                <a:solidFill>
                  <a:srgbClr val="1B4332"/>
                </a:solidFill>
                <a:latin typeface="Georgia" pitchFamily="34" charset="0"/>
                <a:ea typeface="Georgia" pitchFamily="34" charset="-122"/>
                <a:cs typeface="Georgia" pitchFamily="34" charset="-120"/>
              </a:rPr>
              <a:t>03</a:t>
            </a:r>
            <a:endParaRPr lang="en-US" sz="3800" dirty="0"/>
          </a:p>
        </p:txBody>
      </p:sp>
      <p:sp>
        <p:nvSpPr>
          <p:cNvPr id="26" name="Text 24"/>
          <p:cNvSpPr/>
          <p:nvPr/>
        </p:nvSpPr>
        <p:spPr>
          <a:xfrm>
            <a:off x="6126480" y="2194560"/>
            <a:ext cx="2514600" cy="411480"/>
          </a:xfrm>
          <a:prstGeom prst="rect">
            <a:avLst/>
          </a:prstGeom>
          <a:noFill/>
          <a:ln/>
        </p:spPr>
        <p:txBody>
          <a:bodyPr wrap="square" rtlCol="0" anchor="ctr"/>
          <a:lstStyle/>
          <a:p>
            <a:pPr indent="0" marL="0">
              <a:buNone/>
            </a:pPr>
            <a:r>
              <a:rPr lang="en-US" sz="1400" b="1" dirty="0">
                <a:solidFill>
                  <a:srgbClr val="1B4332"/>
                </a:solidFill>
                <a:latin typeface="Georgia" pitchFamily="34" charset="0"/>
                <a:ea typeface="Georgia" pitchFamily="34" charset="-122"/>
                <a:cs typeface="Georgia" pitchFamily="34" charset="-120"/>
              </a:rPr>
              <a:t>Smart Agriculture System</a:t>
            </a:r>
            <a:endParaRPr lang="en-US" sz="1400" dirty="0"/>
          </a:p>
        </p:txBody>
      </p:sp>
      <p:sp>
        <p:nvSpPr>
          <p:cNvPr id="27" name="Shape 25"/>
          <p:cNvSpPr/>
          <p:nvPr/>
        </p:nvSpPr>
        <p:spPr>
          <a:xfrm>
            <a:off x="6126480" y="2624328"/>
            <a:ext cx="2514600" cy="27432"/>
          </a:xfrm>
          <a:prstGeom prst="rect">
            <a:avLst/>
          </a:prstGeom>
          <a:solidFill>
            <a:srgbClr val="1B4332"/>
          </a:solidFill>
          <a:ln w="12700">
            <a:solidFill>
              <a:srgbClr val="1B4332"/>
            </a:solidFill>
            <a:prstDash val="solid"/>
          </a:ln>
        </p:spPr>
      </p:sp>
      <p:sp>
        <p:nvSpPr>
          <p:cNvPr id="28" name="Text 26"/>
          <p:cNvSpPr/>
          <p:nvPr/>
        </p:nvSpPr>
        <p:spPr>
          <a:xfrm>
            <a:off x="6126480" y="2679192"/>
            <a:ext cx="2514600" cy="274320"/>
          </a:xfrm>
          <a:prstGeom prst="rect">
            <a:avLst/>
          </a:prstGeom>
          <a:noFill/>
          <a:ln/>
        </p:spPr>
        <p:txBody>
          <a:bodyPr wrap="square" rtlCol="0" anchor="ctr"/>
          <a:lstStyle/>
          <a:p>
            <a:pPr indent="0" marL="0">
              <a:buNone/>
            </a:pPr>
            <a:r>
              <a:rPr lang="en-US" sz="950" i="1" dirty="0">
                <a:solidFill>
                  <a:srgbClr val="636E72"/>
                </a:solidFill>
                <a:latin typeface="Calibri" pitchFamily="34" charset="0"/>
                <a:ea typeface="Calibri" pitchFamily="34" charset="-122"/>
                <a:cs typeface="Calibri" pitchFamily="34" charset="-120"/>
              </a:rPr>
              <a:t>Real-Time Advisory Architecture</a:t>
            </a:r>
            <a:endParaRPr lang="en-US" sz="950" dirty="0"/>
          </a:p>
        </p:txBody>
      </p:sp>
      <p:sp>
        <p:nvSpPr>
          <p:cNvPr id="29" name="Text 27"/>
          <p:cNvSpPr/>
          <p:nvPr/>
        </p:nvSpPr>
        <p:spPr>
          <a:xfrm>
            <a:off x="6126480" y="3017520"/>
            <a:ext cx="2514600" cy="1828800"/>
          </a:xfrm>
          <a:prstGeom prst="rect">
            <a:avLst/>
          </a:prstGeom>
          <a:noFill/>
          <a:ln/>
        </p:spPr>
        <p:txBody>
          <a:bodyPr wrap="square" rtlCol="0" anchor="t"/>
          <a:lstStyle/>
          <a:p>
            <a:pPr indent="0" marL="0">
              <a:spcAft>
                <a:spcPts val="300"/>
              </a:spcAft>
              <a:buNone/>
            </a:pPr>
            <a:r>
              <a:rPr lang="en-US" sz="1000" dirty="0">
                <a:solidFill>
                  <a:srgbClr val="2D3436"/>
                </a:solidFill>
                <a:latin typeface="Calibri" pitchFamily="34" charset="0"/>
                <a:ea typeface="Calibri" pitchFamily="34" charset="-122"/>
                <a:cs typeface="Calibri" pitchFamily="34" charset="-120"/>
              </a:rPr>
              <a:t>Architect an end-to-end smart agriculture system integrating IoT sensors, Python data pipelines, AIML decision models, and farmer-facing outputs (mobile/web dashboard + SMS alerts) for real-time nitrogen management.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03</a:t>
            </a:r>
            <a:endParaRPr lang="en-US" sz="3600" dirty="0"/>
          </a:p>
        </p:txBody>
      </p:sp>
      <p:sp>
        <p:nvSpPr>
          <p:cNvPr id="5" name="Text 3"/>
          <p:cNvSpPr/>
          <p:nvPr/>
        </p:nvSpPr>
        <p:spPr>
          <a:xfrm>
            <a:off x="1097280" y="164592"/>
            <a:ext cx="7772400" cy="50292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MATERIALS &amp; EXPERIMENTAL DESIGN</a:t>
            </a:r>
            <a:endParaRPr lang="en-US" sz="2400" dirty="0"/>
          </a:p>
        </p:txBody>
      </p:sp>
      <p:sp>
        <p:nvSpPr>
          <p:cNvPr id="6" name="Shape 4"/>
          <p:cNvSpPr/>
          <p:nvPr/>
        </p:nvSpPr>
        <p:spPr>
          <a:xfrm>
            <a:off x="274320" y="960120"/>
            <a:ext cx="4114800" cy="402336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960120"/>
            <a:ext cx="4114800" cy="384048"/>
          </a:xfrm>
          <a:prstGeom prst="rect">
            <a:avLst/>
          </a:prstGeom>
          <a:solidFill>
            <a:srgbClr val="2D6A4F"/>
          </a:solidFill>
          <a:ln w="12700">
            <a:solidFill>
              <a:srgbClr val="2D6A4F"/>
            </a:solidFill>
            <a:prstDash val="solid"/>
          </a:ln>
        </p:spPr>
      </p:sp>
      <p:sp>
        <p:nvSpPr>
          <p:cNvPr id="8" name="Text 6"/>
          <p:cNvSpPr/>
          <p:nvPr/>
        </p:nvSpPr>
        <p:spPr>
          <a:xfrm>
            <a:off x="365760" y="978408"/>
            <a:ext cx="39319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Field Setup</a:t>
            </a:r>
            <a:endParaRPr lang="en-US" sz="1300" dirty="0"/>
          </a:p>
        </p:txBody>
      </p:sp>
      <p:sp>
        <p:nvSpPr>
          <p:cNvPr id="9" name="Shape 7"/>
          <p:cNvSpPr/>
          <p:nvPr/>
        </p:nvSpPr>
        <p:spPr>
          <a:xfrm>
            <a:off x="292608" y="1417320"/>
            <a:ext cx="4078224" cy="384048"/>
          </a:xfrm>
          <a:prstGeom prst="rect">
            <a:avLst/>
          </a:prstGeom>
          <a:solidFill>
            <a:srgbClr val="F0F0F0"/>
          </a:solidFill>
          <a:ln w="12700">
            <a:solidFill>
              <a:srgbClr val="F0F0F0"/>
            </a:solidFill>
            <a:prstDash val="solid"/>
          </a:ln>
        </p:spPr>
      </p:sp>
      <p:sp>
        <p:nvSpPr>
          <p:cNvPr id="10" name="Text 8"/>
          <p:cNvSpPr/>
          <p:nvPr/>
        </p:nvSpPr>
        <p:spPr>
          <a:xfrm>
            <a:off x="411480" y="1417320"/>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Crop</a:t>
            </a:r>
            <a:endParaRPr lang="en-US" sz="950" dirty="0"/>
          </a:p>
        </p:txBody>
      </p:sp>
      <p:sp>
        <p:nvSpPr>
          <p:cNvPr id="11" name="Text 9"/>
          <p:cNvSpPr/>
          <p:nvPr/>
        </p:nvSpPr>
        <p:spPr>
          <a:xfrm>
            <a:off x="1783080" y="1417320"/>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Chickpea (Cicer arietinum L.)</a:t>
            </a:r>
            <a:endParaRPr lang="en-US" sz="950" dirty="0"/>
          </a:p>
        </p:txBody>
      </p:sp>
      <p:sp>
        <p:nvSpPr>
          <p:cNvPr id="12" name="Text 10"/>
          <p:cNvSpPr/>
          <p:nvPr/>
        </p:nvSpPr>
        <p:spPr>
          <a:xfrm>
            <a:off x="411480" y="1810512"/>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Season</a:t>
            </a:r>
            <a:endParaRPr lang="en-US" sz="950" dirty="0"/>
          </a:p>
        </p:txBody>
      </p:sp>
      <p:sp>
        <p:nvSpPr>
          <p:cNvPr id="13" name="Text 11"/>
          <p:cNvSpPr/>
          <p:nvPr/>
        </p:nvSpPr>
        <p:spPr>
          <a:xfrm>
            <a:off x="1783080" y="1810512"/>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Rabi 2024</a:t>
            </a:r>
            <a:endParaRPr lang="en-US" sz="950" dirty="0"/>
          </a:p>
        </p:txBody>
      </p:sp>
      <p:sp>
        <p:nvSpPr>
          <p:cNvPr id="14" name="Shape 12"/>
          <p:cNvSpPr/>
          <p:nvPr/>
        </p:nvSpPr>
        <p:spPr>
          <a:xfrm>
            <a:off x="292608" y="2203704"/>
            <a:ext cx="4078224" cy="384048"/>
          </a:xfrm>
          <a:prstGeom prst="rect">
            <a:avLst/>
          </a:prstGeom>
          <a:solidFill>
            <a:srgbClr val="F0F0F0"/>
          </a:solidFill>
          <a:ln w="12700">
            <a:solidFill>
              <a:srgbClr val="F0F0F0"/>
            </a:solidFill>
            <a:prstDash val="solid"/>
          </a:ln>
        </p:spPr>
      </p:sp>
      <p:sp>
        <p:nvSpPr>
          <p:cNvPr id="15" name="Text 13"/>
          <p:cNvSpPr/>
          <p:nvPr/>
        </p:nvSpPr>
        <p:spPr>
          <a:xfrm>
            <a:off x="411480" y="2203704"/>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Location</a:t>
            </a:r>
            <a:endParaRPr lang="en-US" sz="950" dirty="0"/>
          </a:p>
        </p:txBody>
      </p:sp>
      <p:sp>
        <p:nvSpPr>
          <p:cNvPr id="16" name="Text 14"/>
          <p:cNvSpPr/>
          <p:nvPr/>
        </p:nvSpPr>
        <p:spPr>
          <a:xfrm>
            <a:off x="1783080" y="2203704"/>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ZARS, GKVK, UAS Bengaluru</a:t>
            </a:r>
            <a:endParaRPr lang="en-US" sz="950" dirty="0"/>
          </a:p>
        </p:txBody>
      </p:sp>
      <p:sp>
        <p:nvSpPr>
          <p:cNvPr id="17" name="Text 15"/>
          <p:cNvSpPr/>
          <p:nvPr/>
        </p:nvSpPr>
        <p:spPr>
          <a:xfrm>
            <a:off x="411480" y="2596896"/>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Design</a:t>
            </a:r>
            <a:endParaRPr lang="en-US" sz="950" dirty="0"/>
          </a:p>
        </p:txBody>
      </p:sp>
      <p:sp>
        <p:nvSpPr>
          <p:cNvPr id="18" name="Text 16"/>
          <p:cNvSpPr/>
          <p:nvPr/>
        </p:nvSpPr>
        <p:spPr>
          <a:xfrm>
            <a:off x="1783080" y="2596896"/>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RCBD – 5 Treatments × 4 Reps</a:t>
            </a:r>
            <a:endParaRPr lang="en-US" sz="950" dirty="0"/>
          </a:p>
        </p:txBody>
      </p:sp>
      <p:sp>
        <p:nvSpPr>
          <p:cNvPr id="19" name="Shape 17"/>
          <p:cNvSpPr/>
          <p:nvPr/>
        </p:nvSpPr>
        <p:spPr>
          <a:xfrm>
            <a:off x="292608" y="2990088"/>
            <a:ext cx="4078224" cy="384048"/>
          </a:xfrm>
          <a:prstGeom prst="rect">
            <a:avLst/>
          </a:prstGeom>
          <a:solidFill>
            <a:srgbClr val="F0F0F0"/>
          </a:solidFill>
          <a:ln w="12700">
            <a:solidFill>
              <a:srgbClr val="F0F0F0"/>
            </a:solidFill>
            <a:prstDash val="solid"/>
          </a:ln>
        </p:spPr>
      </p:sp>
      <p:sp>
        <p:nvSpPr>
          <p:cNvPr id="20" name="Text 18"/>
          <p:cNvSpPr/>
          <p:nvPr/>
        </p:nvSpPr>
        <p:spPr>
          <a:xfrm>
            <a:off x="411480" y="2990088"/>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Plot Size</a:t>
            </a:r>
            <a:endParaRPr lang="en-US" sz="950" dirty="0"/>
          </a:p>
        </p:txBody>
      </p:sp>
      <p:sp>
        <p:nvSpPr>
          <p:cNvPr id="21" name="Text 19"/>
          <p:cNvSpPr/>
          <p:nvPr/>
        </p:nvSpPr>
        <p:spPr>
          <a:xfrm>
            <a:off x="1783080" y="2990088"/>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1 m × 1 m (1 m²)</a:t>
            </a:r>
            <a:endParaRPr lang="en-US" sz="950" dirty="0"/>
          </a:p>
        </p:txBody>
      </p:sp>
      <p:sp>
        <p:nvSpPr>
          <p:cNvPr id="22" name="Text 20"/>
          <p:cNvSpPr/>
          <p:nvPr/>
        </p:nvSpPr>
        <p:spPr>
          <a:xfrm>
            <a:off x="411480" y="3383280"/>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Seed Rate</a:t>
            </a:r>
            <a:endParaRPr lang="en-US" sz="950" dirty="0"/>
          </a:p>
        </p:txBody>
      </p:sp>
      <p:sp>
        <p:nvSpPr>
          <p:cNvPr id="23" name="Text 21"/>
          <p:cNvSpPr/>
          <p:nvPr/>
        </p:nvSpPr>
        <p:spPr>
          <a:xfrm>
            <a:off x="1783080" y="3383280"/>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62.5 kg/ha</a:t>
            </a:r>
            <a:endParaRPr lang="en-US" sz="950" dirty="0"/>
          </a:p>
        </p:txBody>
      </p:sp>
      <p:sp>
        <p:nvSpPr>
          <p:cNvPr id="24" name="Shape 22"/>
          <p:cNvSpPr/>
          <p:nvPr/>
        </p:nvSpPr>
        <p:spPr>
          <a:xfrm>
            <a:off x="292608" y="3776472"/>
            <a:ext cx="4078224" cy="384048"/>
          </a:xfrm>
          <a:prstGeom prst="rect">
            <a:avLst/>
          </a:prstGeom>
          <a:solidFill>
            <a:srgbClr val="F0F0F0"/>
          </a:solidFill>
          <a:ln w="12700">
            <a:solidFill>
              <a:srgbClr val="F0F0F0"/>
            </a:solidFill>
            <a:prstDash val="solid"/>
          </a:ln>
        </p:spPr>
      </p:sp>
      <p:sp>
        <p:nvSpPr>
          <p:cNvPr id="25" name="Text 23"/>
          <p:cNvSpPr/>
          <p:nvPr/>
        </p:nvSpPr>
        <p:spPr>
          <a:xfrm>
            <a:off x="411480" y="3776472"/>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Spacing</a:t>
            </a:r>
            <a:endParaRPr lang="en-US" sz="950" dirty="0"/>
          </a:p>
        </p:txBody>
      </p:sp>
      <p:sp>
        <p:nvSpPr>
          <p:cNvPr id="26" name="Text 24"/>
          <p:cNvSpPr/>
          <p:nvPr/>
        </p:nvSpPr>
        <p:spPr>
          <a:xfrm>
            <a:off x="1783080" y="3776472"/>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30 cm × 10 cm</a:t>
            </a:r>
            <a:endParaRPr lang="en-US" sz="950" dirty="0"/>
          </a:p>
        </p:txBody>
      </p:sp>
      <p:sp>
        <p:nvSpPr>
          <p:cNvPr id="27" name="Text 25"/>
          <p:cNvSpPr/>
          <p:nvPr/>
        </p:nvSpPr>
        <p:spPr>
          <a:xfrm>
            <a:off x="411480" y="4169664"/>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Fertilizer</a:t>
            </a:r>
            <a:endParaRPr lang="en-US" sz="950" dirty="0"/>
          </a:p>
        </p:txBody>
      </p:sp>
      <p:sp>
        <p:nvSpPr>
          <p:cNvPr id="28" name="Text 26"/>
          <p:cNvSpPr/>
          <p:nvPr/>
        </p:nvSpPr>
        <p:spPr>
          <a:xfrm>
            <a:off x="1783080" y="4169664"/>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Urea (46% N)</a:t>
            </a:r>
            <a:endParaRPr lang="en-US" sz="950" dirty="0"/>
          </a:p>
        </p:txBody>
      </p:sp>
      <p:sp>
        <p:nvSpPr>
          <p:cNvPr id="29" name="Shape 27"/>
          <p:cNvSpPr/>
          <p:nvPr/>
        </p:nvSpPr>
        <p:spPr>
          <a:xfrm>
            <a:off x="292608" y="4562856"/>
            <a:ext cx="4078224" cy="384048"/>
          </a:xfrm>
          <a:prstGeom prst="rect">
            <a:avLst/>
          </a:prstGeom>
          <a:solidFill>
            <a:srgbClr val="F0F0F0"/>
          </a:solidFill>
          <a:ln w="12700">
            <a:solidFill>
              <a:srgbClr val="F0F0F0"/>
            </a:solidFill>
            <a:prstDash val="solid"/>
          </a:ln>
        </p:spPr>
      </p:sp>
      <p:sp>
        <p:nvSpPr>
          <p:cNvPr id="30" name="Text 28"/>
          <p:cNvSpPr/>
          <p:nvPr/>
        </p:nvSpPr>
        <p:spPr>
          <a:xfrm>
            <a:off x="411480" y="4562856"/>
            <a:ext cx="1371600" cy="384048"/>
          </a:xfrm>
          <a:prstGeom prst="rect">
            <a:avLst/>
          </a:prstGeom>
          <a:noFill/>
          <a:ln/>
        </p:spPr>
        <p:txBody>
          <a:bodyPr wrap="square" rtlCol="0" anchor="ctr"/>
          <a:lstStyle/>
          <a:p>
            <a:pPr indent="0" marL="0">
              <a:buNone/>
            </a:pPr>
            <a:r>
              <a:rPr lang="en-US" sz="950" b="1" dirty="0">
                <a:solidFill>
                  <a:srgbClr val="2D6A4F"/>
                </a:solidFill>
                <a:latin typeface="Calibri" pitchFamily="34" charset="0"/>
                <a:ea typeface="Calibri" pitchFamily="34" charset="-122"/>
                <a:cs typeface="Calibri" pitchFamily="34" charset="-120"/>
              </a:rPr>
              <a:t>Soil Type</a:t>
            </a:r>
            <a:endParaRPr lang="en-US" sz="950" dirty="0"/>
          </a:p>
        </p:txBody>
      </p:sp>
      <p:sp>
        <p:nvSpPr>
          <p:cNvPr id="31" name="Text 29"/>
          <p:cNvSpPr/>
          <p:nvPr/>
        </p:nvSpPr>
        <p:spPr>
          <a:xfrm>
            <a:off x="1783080" y="4562856"/>
            <a:ext cx="2468880" cy="384048"/>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Red Sandy Loam (pH 6.56)</a:t>
            </a:r>
            <a:endParaRPr lang="en-US" sz="950" dirty="0"/>
          </a:p>
        </p:txBody>
      </p:sp>
      <p:sp>
        <p:nvSpPr>
          <p:cNvPr id="32" name="Shape 30"/>
          <p:cNvSpPr/>
          <p:nvPr/>
        </p:nvSpPr>
        <p:spPr>
          <a:xfrm>
            <a:off x="4754880" y="960120"/>
            <a:ext cx="4114800" cy="4023360"/>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754880" y="960120"/>
            <a:ext cx="4114800" cy="384048"/>
          </a:xfrm>
          <a:prstGeom prst="rect">
            <a:avLst/>
          </a:prstGeom>
          <a:solidFill>
            <a:srgbClr val="D4A017"/>
          </a:solidFill>
          <a:ln w="12700">
            <a:solidFill>
              <a:srgbClr val="D4A017"/>
            </a:solidFill>
            <a:prstDash val="solid"/>
          </a:ln>
        </p:spPr>
      </p:sp>
      <p:sp>
        <p:nvSpPr>
          <p:cNvPr id="34" name="Text 32"/>
          <p:cNvSpPr/>
          <p:nvPr/>
        </p:nvSpPr>
        <p:spPr>
          <a:xfrm>
            <a:off x="4846320" y="978408"/>
            <a:ext cx="39319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Treatment Details</a:t>
            </a:r>
            <a:endParaRPr lang="en-US" sz="1300" dirty="0"/>
          </a:p>
        </p:txBody>
      </p:sp>
      <p:sp>
        <p:nvSpPr>
          <p:cNvPr id="35" name="Shape 33"/>
          <p:cNvSpPr/>
          <p:nvPr/>
        </p:nvSpPr>
        <p:spPr>
          <a:xfrm>
            <a:off x="4773168" y="1399032"/>
            <a:ext cx="4078224" cy="347472"/>
          </a:xfrm>
          <a:prstGeom prst="rect">
            <a:avLst/>
          </a:prstGeom>
          <a:solidFill>
            <a:srgbClr val="1B4332"/>
          </a:solidFill>
          <a:ln w="12700">
            <a:solidFill>
              <a:srgbClr val="1B4332"/>
            </a:solidFill>
            <a:prstDash val="solid"/>
          </a:ln>
        </p:spPr>
      </p:sp>
      <p:sp>
        <p:nvSpPr>
          <p:cNvPr id="36" name="Text 34"/>
          <p:cNvSpPr/>
          <p:nvPr/>
        </p:nvSpPr>
        <p:spPr>
          <a:xfrm>
            <a:off x="4846320" y="1408176"/>
            <a:ext cx="502920" cy="33832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Treat.</a:t>
            </a:r>
            <a:endParaRPr lang="en-US" sz="850" dirty="0"/>
          </a:p>
        </p:txBody>
      </p:sp>
      <p:sp>
        <p:nvSpPr>
          <p:cNvPr id="37" name="Text 35"/>
          <p:cNvSpPr/>
          <p:nvPr/>
        </p:nvSpPr>
        <p:spPr>
          <a:xfrm>
            <a:off x="5349240" y="1408176"/>
            <a:ext cx="1234440" cy="33832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Description</a:t>
            </a:r>
            <a:endParaRPr lang="en-US" sz="850" dirty="0"/>
          </a:p>
        </p:txBody>
      </p:sp>
      <p:sp>
        <p:nvSpPr>
          <p:cNvPr id="38" name="Text 36"/>
          <p:cNvSpPr/>
          <p:nvPr/>
        </p:nvSpPr>
        <p:spPr>
          <a:xfrm>
            <a:off x="6583680" y="1408176"/>
            <a:ext cx="585216" cy="33832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Basal</a:t>
            </a:r>
            <a:endParaRPr lang="en-US" sz="850" dirty="0"/>
          </a:p>
        </p:txBody>
      </p:sp>
      <p:sp>
        <p:nvSpPr>
          <p:cNvPr id="39" name="Text 37"/>
          <p:cNvSpPr/>
          <p:nvPr/>
        </p:nvSpPr>
        <p:spPr>
          <a:xfrm>
            <a:off x="7168896" y="1408176"/>
            <a:ext cx="585216" cy="33832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30DAS</a:t>
            </a:r>
            <a:endParaRPr lang="en-US" sz="850" dirty="0"/>
          </a:p>
        </p:txBody>
      </p:sp>
      <p:sp>
        <p:nvSpPr>
          <p:cNvPr id="40" name="Text 38"/>
          <p:cNvSpPr/>
          <p:nvPr/>
        </p:nvSpPr>
        <p:spPr>
          <a:xfrm>
            <a:off x="7754112" y="1408176"/>
            <a:ext cx="585216" cy="33832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45DAS</a:t>
            </a:r>
            <a:endParaRPr lang="en-US" sz="850" dirty="0"/>
          </a:p>
        </p:txBody>
      </p:sp>
      <p:sp>
        <p:nvSpPr>
          <p:cNvPr id="41" name="Shape 39"/>
          <p:cNvSpPr/>
          <p:nvPr/>
        </p:nvSpPr>
        <p:spPr>
          <a:xfrm>
            <a:off x="4773168" y="1783080"/>
            <a:ext cx="4078224" cy="420624"/>
          </a:xfrm>
          <a:prstGeom prst="rect">
            <a:avLst/>
          </a:prstGeom>
          <a:solidFill>
            <a:srgbClr val="F0F0F0"/>
          </a:solidFill>
          <a:ln w="12700">
            <a:solidFill>
              <a:srgbClr val="F0F0F0"/>
            </a:solidFill>
            <a:prstDash val="solid"/>
          </a:ln>
        </p:spPr>
      </p:sp>
      <p:sp>
        <p:nvSpPr>
          <p:cNvPr id="42" name="Text 40"/>
          <p:cNvSpPr/>
          <p:nvPr/>
        </p:nvSpPr>
        <p:spPr>
          <a:xfrm>
            <a:off x="4846320" y="1783080"/>
            <a:ext cx="502920" cy="420624"/>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T1</a:t>
            </a:r>
            <a:endParaRPr lang="en-US" sz="900" dirty="0"/>
          </a:p>
        </p:txBody>
      </p:sp>
      <p:sp>
        <p:nvSpPr>
          <p:cNvPr id="43" name="Text 41"/>
          <p:cNvSpPr/>
          <p:nvPr/>
        </p:nvSpPr>
        <p:spPr>
          <a:xfrm>
            <a:off x="5349240" y="1783080"/>
            <a:ext cx="1234440"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Control (No N)</a:t>
            </a:r>
            <a:endParaRPr lang="en-US" sz="900" dirty="0"/>
          </a:p>
        </p:txBody>
      </p:sp>
      <p:sp>
        <p:nvSpPr>
          <p:cNvPr id="44" name="Text 42"/>
          <p:cNvSpPr/>
          <p:nvPr/>
        </p:nvSpPr>
        <p:spPr>
          <a:xfrm>
            <a:off x="6583680" y="1783080"/>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0%</a:t>
            </a:r>
            <a:endParaRPr lang="en-US" sz="900" dirty="0"/>
          </a:p>
        </p:txBody>
      </p:sp>
      <p:sp>
        <p:nvSpPr>
          <p:cNvPr id="45" name="Text 43"/>
          <p:cNvSpPr/>
          <p:nvPr/>
        </p:nvSpPr>
        <p:spPr>
          <a:xfrm>
            <a:off x="7168896" y="1783080"/>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0%</a:t>
            </a:r>
            <a:endParaRPr lang="en-US" sz="900" dirty="0"/>
          </a:p>
        </p:txBody>
      </p:sp>
      <p:sp>
        <p:nvSpPr>
          <p:cNvPr id="46" name="Text 44"/>
          <p:cNvSpPr/>
          <p:nvPr/>
        </p:nvSpPr>
        <p:spPr>
          <a:xfrm>
            <a:off x="7754112" y="1783080"/>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0%</a:t>
            </a:r>
            <a:endParaRPr lang="en-US" sz="900" dirty="0"/>
          </a:p>
        </p:txBody>
      </p:sp>
      <p:sp>
        <p:nvSpPr>
          <p:cNvPr id="47" name="Text 45"/>
          <p:cNvSpPr/>
          <p:nvPr/>
        </p:nvSpPr>
        <p:spPr>
          <a:xfrm>
            <a:off x="4846320" y="2212848"/>
            <a:ext cx="502920" cy="420624"/>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T2</a:t>
            </a:r>
            <a:endParaRPr lang="en-US" sz="900" dirty="0"/>
          </a:p>
        </p:txBody>
      </p:sp>
      <p:sp>
        <p:nvSpPr>
          <p:cNvPr id="48" name="Text 46"/>
          <p:cNvSpPr/>
          <p:nvPr/>
        </p:nvSpPr>
        <p:spPr>
          <a:xfrm>
            <a:off x="5349240" y="2212848"/>
            <a:ext cx="1234440"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100% Basal</a:t>
            </a:r>
            <a:endParaRPr lang="en-US" sz="900" dirty="0"/>
          </a:p>
        </p:txBody>
      </p:sp>
      <p:sp>
        <p:nvSpPr>
          <p:cNvPr id="49" name="Text 47"/>
          <p:cNvSpPr/>
          <p:nvPr/>
        </p:nvSpPr>
        <p:spPr>
          <a:xfrm>
            <a:off x="6583680" y="2212848"/>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100%</a:t>
            </a:r>
            <a:endParaRPr lang="en-US" sz="900" dirty="0"/>
          </a:p>
        </p:txBody>
      </p:sp>
      <p:sp>
        <p:nvSpPr>
          <p:cNvPr id="50" name="Text 48"/>
          <p:cNvSpPr/>
          <p:nvPr/>
        </p:nvSpPr>
        <p:spPr>
          <a:xfrm>
            <a:off x="7168896" y="2212848"/>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0%</a:t>
            </a:r>
            <a:endParaRPr lang="en-US" sz="900" dirty="0"/>
          </a:p>
        </p:txBody>
      </p:sp>
      <p:sp>
        <p:nvSpPr>
          <p:cNvPr id="51" name="Text 49"/>
          <p:cNvSpPr/>
          <p:nvPr/>
        </p:nvSpPr>
        <p:spPr>
          <a:xfrm>
            <a:off x="7754112" y="2212848"/>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0%</a:t>
            </a:r>
            <a:endParaRPr lang="en-US" sz="900" dirty="0"/>
          </a:p>
        </p:txBody>
      </p:sp>
      <p:sp>
        <p:nvSpPr>
          <p:cNvPr id="52" name="Shape 50"/>
          <p:cNvSpPr/>
          <p:nvPr/>
        </p:nvSpPr>
        <p:spPr>
          <a:xfrm>
            <a:off x="4773168" y="2642616"/>
            <a:ext cx="4078224" cy="420624"/>
          </a:xfrm>
          <a:prstGeom prst="rect">
            <a:avLst/>
          </a:prstGeom>
          <a:solidFill>
            <a:srgbClr val="F0F0F0"/>
          </a:solidFill>
          <a:ln w="12700">
            <a:solidFill>
              <a:srgbClr val="F0F0F0"/>
            </a:solidFill>
            <a:prstDash val="solid"/>
          </a:ln>
        </p:spPr>
      </p:sp>
      <p:sp>
        <p:nvSpPr>
          <p:cNvPr id="53" name="Text 51"/>
          <p:cNvSpPr/>
          <p:nvPr/>
        </p:nvSpPr>
        <p:spPr>
          <a:xfrm>
            <a:off x="4846320" y="2642616"/>
            <a:ext cx="502920" cy="420624"/>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T3</a:t>
            </a:r>
            <a:endParaRPr lang="en-US" sz="900" dirty="0"/>
          </a:p>
        </p:txBody>
      </p:sp>
      <p:sp>
        <p:nvSpPr>
          <p:cNvPr id="54" name="Text 52"/>
          <p:cNvSpPr/>
          <p:nvPr/>
        </p:nvSpPr>
        <p:spPr>
          <a:xfrm>
            <a:off x="5349240" y="2642616"/>
            <a:ext cx="1234440"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Split – Equal Early</a:t>
            </a:r>
            <a:endParaRPr lang="en-US" sz="900" dirty="0"/>
          </a:p>
        </p:txBody>
      </p:sp>
      <p:sp>
        <p:nvSpPr>
          <p:cNvPr id="55" name="Text 53"/>
          <p:cNvSpPr/>
          <p:nvPr/>
        </p:nvSpPr>
        <p:spPr>
          <a:xfrm>
            <a:off x="6583680" y="2642616"/>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50%</a:t>
            </a:r>
            <a:endParaRPr lang="en-US" sz="900" dirty="0"/>
          </a:p>
        </p:txBody>
      </p:sp>
      <p:sp>
        <p:nvSpPr>
          <p:cNvPr id="56" name="Text 54"/>
          <p:cNvSpPr/>
          <p:nvPr/>
        </p:nvSpPr>
        <p:spPr>
          <a:xfrm>
            <a:off x="7168896" y="2642616"/>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25%</a:t>
            </a:r>
            <a:endParaRPr lang="en-US" sz="900" dirty="0"/>
          </a:p>
        </p:txBody>
      </p:sp>
      <p:sp>
        <p:nvSpPr>
          <p:cNvPr id="57" name="Text 55"/>
          <p:cNvSpPr/>
          <p:nvPr/>
        </p:nvSpPr>
        <p:spPr>
          <a:xfrm>
            <a:off x="7754112" y="2642616"/>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25%</a:t>
            </a:r>
            <a:endParaRPr lang="en-US" sz="900" dirty="0"/>
          </a:p>
        </p:txBody>
      </p:sp>
      <p:sp>
        <p:nvSpPr>
          <p:cNvPr id="58" name="Shape 56"/>
          <p:cNvSpPr/>
          <p:nvPr/>
        </p:nvSpPr>
        <p:spPr>
          <a:xfrm>
            <a:off x="4773168" y="3072384"/>
            <a:ext cx="4078224" cy="420624"/>
          </a:xfrm>
          <a:prstGeom prst="rect">
            <a:avLst/>
          </a:prstGeom>
          <a:solidFill>
            <a:srgbClr val="52B788">
              <a:alpha val="60000"/>
            </a:srgbClr>
          </a:solidFill>
          <a:ln w="12700">
            <a:solidFill>
              <a:srgbClr val="52B788"/>
            </a:solidFill>
            <a:prstDash val="solid"/>
          </a:ln>
        </p:spPr>
      </p:sp>
      <p:sp>
        <p:nvSpPr>
          <p:cNvPr id="59" name="Text 57"/>
          <p:cNvSpPr/>
          <p:nvPr/>
        </p:nvSpPr>
        <p:spPr>
          <a:xfrm>
            <a:off x="4846320" y="3072384"/>
            <a:ext cx="502920" cy="420624"/>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T4</a:t>
            </a:r>
            <a:endParaRPr lang="en-US" sz="900" dirty="0"/>
          </a:p>
        </p:txBody>
      </p:sp>
      <p:sp>
        <p:nvSpPr>
          <p:cNvPr id="60" name="Text 58"/>
          <p:cNvSpPr/>
          <p:nvPr/>
        </p:nvSpPr>
        <p:spPr>
          <a:xfrm>
            <a:off x="5349240" y="3072384"/>
            <a:ext cx="1234440"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Split – Delayed Peak ★</a:t>
            </a:r>
            <a:endParaRPr lang="en-US" sz="900" dirty="0"/>
          </a:p>
        </p:txBody>
      </p:sp>
      <p:sp>
        <p:nvSpPr>
          <p:cNvPr id="61" name="Text 59"/>
          <p:cNvSpPr/>
          <p:nvPr/>
        </p:nvSpPr>
        <p:spPr>
          <a:xfrm>
            <a:off x="6583680" y="3072384"/>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0%</a:t>
            </a:r>
            <a:endParaRPr lang="en-US" sz="900" dirty="0"/>
          </a:p>
        </p:txBody>
      </p:sp>
      <p:sp>
        <p:nvSpPr>
          <p:cNvPr id="62" name="Text 60"/>
          <p:cNvSpPr/>
          <p:nvPr/>
        </p:nvSpPr>
        <p:spPr>
          <a:xfrm>
            <a:off x="7168896" y="3072384"/>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50%</a:t>
            </a:r>
            <a:endParaRPr lang="en-US" sz="900" dirty="0"/>
          </a:p>
        </p:txBody>
      </p:sp>
      <p:sp>
        <p:nvSpPr>
          <p:cNvPr id="63" name="Text 61"/>
          <p:cNvSpPr/>
          <p:nvPr/>
        </p:nvSpPr>
        <p:spPr>
          <a:xfrm>
            <a:off x="7754112" y="3072384"/>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50%</a:t>
            </a:r>
            <a:endParaRPr lang="en-US" sz="900" dirty="0"/>
          </a:p>
        </p:txBody>
      </p:sp>
      <p:sp>
        <p:nvSpPr>
          <p:cNvPr id="64" name="Shape 62"/>
          <p:cNvSpPr/>
          <p:nvPr/>
        </p:nvSpPr>
        <p:spPr>
          <a:xfrm>
            <a:off x="4773168" y="3502152"/>
            <a:ext cx="4078224" cy="420624"/>
          </a:xfrm>
          <a:prstGeom prst="rect">
            <a:avLst/>
          </a:prstGeom>
          <a:solidFill>
            <a:srgbClr val="F0F0F0"/>
          </a:solidFill>
          <a:ln w="12700">
            <a:solidFill>
              <a:srgbClr val="F0F0F0"/>
            </a:solidFill>
            <a:prstDash val="solid"/>
          </a:ln>
        </p:spPr>
      </p:sp>
      <p:sp>
        <p:nvSpPr>
          <p:cNvPr id="65" name="Text 63"/>
          <p:cNvSpPr/>
          <p:nvPr/>
        </p:nvSpPr>
        <p:spPr>
          <a:xfrm>
            <a:off x="4846320" y="3502152"/>
            <a:ext cx="502920" cy="420624"/>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T5</a:t>
            </a:r>
            <a:endParaRPr lang="en-US" sz="900" dirty="0"/>
          </a:p>
        </p:txBody>
      </p:sp>
      <p:sp>
        <p:nvSpPr>
          <p:cNvPr id="66" name="Text 64"/>
          <p:cNvSpPr/>
          <p:nvPr/>
        </p:nvSpPr>
        <p:spPr>
          <a:xfrm>
            <a:off x="5349240" y="3502152"/>
            <a:ext cx="1234440"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Split – Moderate Delay</a:t>
            </a:r>
            <a:endParaRPr lang="en-US" sz="900" dirty="0"/>
          </a:p>
        </p:txBody>
      </p:sp>
      <p:sp>
        <p:nvSpPr>
          <p:cNvPr id="67" name="Text 65"/>
          <p:cNvSpPr/>
          <p:nvPr/>
        </p:nvSpPr>
        <p:spPr>
          <a:xfrm>
            <a:off x="6583680" y="3502152"/>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25%</a:t>
            </a:r>
            <a:endParaRPr lang="en-US" sz="900" dirty="0"/>
          </a:p>
        </p:txBody>
      </p:sp>
      <p:sp>
        <p:nvSpPr>
          <p:cNvPr id="68" name="Text 66"/>
          <p:cNvSpPr/>
          <p:nvPr/>
        </p:nvSpPr>
        <p:spPr>
          <a:xfrm>
            <a:off x="7168896" y="3502152"/>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50%</a:t>
            </a:r>
            <a:endParaRPr lang="en-US" sz="900" dirty="0"/>
          </a:p>
        </p:txBody>
      </p:sp>
      <p:sp>
        <p:nvSpPr>
          <p:cNvPr id="69" name="Text 67"/>
          <p:cNvSpPr/>
          <p:nvPr/>
        </p:nvSpPr>
        <p:spPr>
          <a:xfrm>
            <a:off x="7754112" y="3502152"/>
            <a:ext cx="585216" cy="420624"/>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25%</a:t>
            </a:r>
            <a:endParaRPr lang="en-US" sz="900" dirty="0"/>
          </a:p>
        </p:txBody>
      </p:sp>
      <p:sp>
        <p:nvSpPr>
          <p:cNvPr id="70" name="Text 68"/>
          <p:cNvSpPr/>
          <p:nvPr/>
        </p:nvSpPr>
        <p:spPr>
          <a:xfrm>
            <a:off x="4754880" y="4846320"/>
            <a:ext cx="4114800" cy="182880"/>
          </a:xfrm>
          <a:prstGeom prst="rect">
            <a:avLst/>
          </a:prstGeom>
          <a:noFill/>
          <a:ln/>
        </p:spPr>
        <p:txBody>
          <a:bodyPr wrap="square" rtlCol="0" anchor="ctr"/>
          <a:lstStyle/>
          <a:p>
            <a:pPr algn="r" indent="0" marL="0">
              <a:buNone/>
            </a:pPr>
            <a:r>
              <a:rPr lang="en-US" sz="800" i="1" dirty="0">
                <a:solidFill>
                  <a:srgbClr val="2D6A4F"/>
                </a:solidFill>
                <a:latin typeface="Calibri" pitchFamily="34" charset="0"/>
                <a:ea typeface="Calibri" pitchFamily="34" charset="-122"/>
                <a:cs typeface="Calibri" pitchFamily="34" charset="-120"/>
              </a:rPr>
              <a:t>★ AI-recommended optimal treatment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04</a:t>
            </a:r>
            <a:endParaRPr lang="en-US" sz="3600" dirty="0"/>
          </a:p>
        </p:txBody>
      </p:sp>
      <p:sp>
        <p:nvSpPr>
          <p:cNvPr id="5" name="Text 3"/>
          <p:cNvSpPr/>
          <p:nvPr/>
        </p:nvSpPr>
        <p:spPr>
          <a:xfrm>
            <a:off x="1097280" y="164592"/>
            <a:ext cx="7772400" cy="5029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SYSTEM ARCHITECTURE</a:t>
            </a:r>
            <a:endParaRPr lang="en-US" sz="2800" dirty="0"/>
          </a:p>
        </p:txBody>
      </p:sp>
      <p:sp>
        <p:nvSpPr>
          <p:cNvPr id="6" name="Shape 4"/>
          <p:cNvSpPr/>
          <p:nvPr/>
        </p:nvSpPr>
        <p:spPr>
          <a:xfrm>
            <a:off x="274320" y="960120"/>
            <a:ext cx="8595360" cy="713232"/>
          </a:xfrm>
          <a:prstGeom prst="rect">
            <a:avLst/>
          </a:prstGeom>
          <a:solidFill>
            <a:srgbClr val="FFFFFF"/>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960120"/>
            <a:ext cx="1005840" cy="713232"/>
          </a:xfrm>
          <a:prstGeom prst="rect">
            <a:avLst/>
          </a:prstGeom>
          <a:solidFill>
            <a:srgbClr val="1B4332"/>
          </a:solidFill>
          <a:ln w="12700">
            <a:solidFill>
              <a:srgbClr val="1B4332"/>
            </a:solidFill>
            <a:prstDash val="solid"/>
          </a:ln>
        </p:spPr>
      </p:sp>
      <p:sp>
        <p:nvSpPr>
          <p:cNvPr id="8" name="Text 6"/>
          <p:cNvSpPr/>
          <p:nvPr/>
        </p:nvSpPr>
        <p:spPr>
          <a:xfrm>
            <a:off x="274320" y="960120"/>
            <a:ext cx="1005840" cy="713232"/>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L1</a:t>
            </a:r>
            <a:endParaRPr lang="en-US" sz="2200" dirty="0"/>
          </a:p>
        </p:txBody>
      </p:sp>
      <p:sp>
        <p:nvSpPr>
          <p:cNvPr id="9" name="Text 7"/>
          <p:cNvSpPr/>
          <p:nvPr/>
        </p:nvSpPr>
        <p:spPr>
          <a:xfrm>
            <a:off x="1417320" y="1005840"/>
            <a:ext cx="2286000" cy="292608"/>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DATA SOURCES</a:t>
            </a:r>
            <a:endParaRPr lang="en-US" sz="1100" dirty="0"/>
          </a:p>
        </p:txBody>
      </p:sp>
      <p:sp>
        <p:nvSpPr>
          <p:cNvPr id="10" name="Text 8"/>
          <p:cNvSpPr/>
          <p:nvPr/>
        </p:nvSpPr>
        <p:spPr>
          <a:xfrm>
            <a:off x="1417320" y="1307592"/>
            <a:ext cx="7223760" cy="320040"/>
          </a:xfrm>
          <a:prstGeom prst="rect">
            <a:avLst/>
          </a:prstGeom>
          <a:noFill/>
          <a:ln/>
        </p:spPr>
        <p:txBody>
          <a:bodyPr wrap="square" rtlCol="0" anchor="ctr"/>
          <a:lstStyle/>
          <a:p>
            <a:pPr indent="0" marL="0">
              <a:buNone/>
            </a:pPr>
            <a:r>
              <a:rPr lang="en-US" sz="950" dirty="0">
                <a:solidFill>
                  <a:srgbClr val="636E72"/>
                </a:solidFill>
                <a:latin typeface="Calibri" pitchFamily="34" charset="0"/>
                <a:ea typeface="Calibri" pitchFamily="34" charset="-122"/>
                <a:cs typeface="Calibri" pitchFamily="34" charset="-120"/>
              </a:rPr>
              <a:t>IoT Sensors (NPK, Moisture, Temp) · Manual Field Obs · Historical DB · Weather APIs · Lab Soil Analysis</a:t>
            </a:r>
            <a:endParaRPr lang="en-US" sz="950" dirty="0"/>
          </a:p>
        </p:txBody>
      </p:sp>
      <p:sp>
        <p:nvSpPr>
          <p:cNvPr id="11" name="Shape 9"/>
          <p:cNvSpPr/>
          <p:nvPr/>
        </p:nvSpPr>
        <p:spPr>
          <a:xfrm>
            <a:off x="704088" y="1673352"/>
            <a:ext cx="146304" cy="64008"/>
          </a:xfrm>
          <a:prstGeom prst="rect">
            <a:avLst/>
          </a:prstGeom>
          <a:solidFill>
            <a:srgbClr val="636E72"/>
          </a:solidFill>
          <a:ln w="12700">
            <a:solidFill>
              <a:srgbClr val="636E72"/>
            </a:solidFill>
            <a:prstDash val="solid"/>
          </a:ln>
        </p:spPr>
      </p:sp>
      <p:sp>
        <p:nvSpPr>
          <p:cNvPr id="12" name="Shape 10"/>
          <p:cNvSpPr/>
          <p:nvPr/>
        </p:nvSpPr>
        <p:spPr>
          <a:xfrm>
            <a:off x="274320" y="1764792"/>
            <a:ext cx="8595360" cy="713232"/>
          </a:xfrm>
          <a:prstGeom prst="rect">
            <a:avLst/>
          </a:prstGeom>
          <a:solidFill>
            <a:srgbClr val="FFFFFF"/>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74320" y="1764792"/>
            <a:ext cx="1005840" cy="713232"/>
          </a:xfrm>
          <a:prstGeom prst="rect">
            <a:avLst/>
          </a:prstGeom>
          <a:solidFill>
            <a:srgbClr val="2D6A4F"/>
          </a:solidFill>
          <a:ln w="12700">
            <a:solidFill>
              <a:srgbClr val="2D6A4F"/>
            </a:solidFill>
            <a:prstDash val="solid"/>
          </a:ln>
        </p:spPr>
      </p:sp>
      <p:sp>
        <p:nvSpPr>
          <p:cNvPr id="14" name="Text 12"/>
          <p:cNvSpPr/>
          <p:nvPr/>
        </p:nvSpPr>
        <p:spPr>
          <a:xfrm>
            <a:off x="274320" y="1764792"/>
            <a:ext cx="1005840" cy="713232"/>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L2</a:t>
            </a:r>
            <a:endParaRPr lang="en-US" sz="2200" dirty="0"/>
          </a:p>
        </p:txBody>
      </p:sp>
      <p:sp>
        <p:nvSpPr>
          <p:cNvPr id="15" name="Text 13"/>
          <p:cNvSpPr/>
          <p:nvPr/>
        </p:nvSpPr>
        <p:spPr>
          <a:xfrm>
            <a:off x="1417320" y="1810512"/>
            <a:ext cx="2286000" cy="292608"/>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PREPROCESSING</a:t>
            </a:r>
            <a:endParaRPr lang="en-US" sz="1100" dirty="0"/>
          </a:p>
        </p:txBody>
      </p:sp>
      <p:sp>
        <p:nvSpPr>
          <p:cNvPr id="16" name="Text 14"/>
          <p:cNvSpPr/>
          <p:nvPr/>
        </p:nvSpPr>
        <p:spPr>
          <a:xfrm>
            <a:off x="1417320" y="2112264"/>
            <a:ext cx="7223760" cy="320040"/>
          </a:xfrm>
          <a:prstGeom prst="rect">
            <a:avLst/>
          </a:prstGeom>
          <a:noFill/>
          <a:ln/>
        </p:spPr>
        <p:txBody>
          <a:bodyPr wrap="square" rtlCol="0" anchor="ctr"/>
          <a:lstStyle/>
          <a:p>
            <a:pPr indent="0" marL="0">
              <a:buNone/>
            </a:pPr>
            <a:r>
              <a:rPr lang="en-US" sz="950" dirty="0">
                <a:solidFill>
                  <a:srgbClr val="636E72"/>
                </a:solidFill>
                <a:latin typeface="Calibri" pitchFamily="34" charset="0"/>
                <a:ea typeface="Calibri" pitchFamily="34" charset="-122"/>
                <a:cs typeface="Calibri" pitchFamily="34" charset="-120"/>
              </a:rPr>
              <a:t>pandas / scikit-learn · Median Imputation · IQR Outlier Filter · Feature Engineering (NUE ratio, GDD, Soil Indices)</a:t>
            </a:r>
            <a:endParaRPr lang="en-US" sz="950" dirty="0"/>
          </a:p>
        </p:txBody>
      </p:sp>
      <p:sp>
        <p:nvSpPr>
          <p:cNvPr id="17" name="Shape 15"/>
          <p:cNvSpPr/>
          <p:nvPr/>
        </p:nvSpPr>
        <p:spPr>
          <a:xfrm>
            <a:off x="704088" y="2478024"/>
            <a:ext cx="146304" cy="64008"/>
          </a:xfrm>
          <a:prstGeom prst="rect">
            <a:avLst/>
          </a:prstGeom>
          <a:solidFill>
            <a:srgbClr val="636E72"/>
          </a:solidFill>
          <a:ln w="12700">
            <a:solidFill>
              <a:srgbClr val="636E72"/>
            </a:solidFill>
            <a:prstDash val="solid"/>
          </a:ln>
        </p:spPr>
      </p:sp>
      <p:sp>
        <p:nvSpPr>
          <p:cNvPr id="18" name="Shape 16"/>
          <p:cNvSpPr/>
          <p:nvPr/>
        </p:nvSpPr>
        <p:spPr>
          <a:xfrm>
            <a:off x="274320" y="2569464"/>
            <a:ext cx="8595360" cy="713232"/>
          </a:xfrm>
          <a:prstGeom prst="rect">
            <a:avLst/>
          </a:prstGeom>
          <a:solidFill>
            <a:srgbClr val="FFFFFF"/>
          </a:solidFill>
          <a:ln w="12700">
            <a:solidFill>
              <a:srgbClr val="52B788"/>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74320" y="2569464"/>
            <a:ext cx="1005840" cy="713232"/>
          </a:xfrm>
          <a:prstGeom prst="rect">
            <a:avLst/>
          </a:prstGeom>
          <a:solidFill>
            <a:srgbClr val="52B788"/>
          </a:solidFill>
          <a:ln w="12700">
            <a:solidFill>
              <a:srgbClr val="52B788"/>
            </a:solidFill>
            <a:prstDash val="solid"/>
          </a:ln>
        </p:spPr>
      </p:sp>
      <p:sp>
        <p:nvSpPr>
          <p:cNvPr id="20" name="Text 18"/>
          <p:cNvSpPr/>
          <p:nvPr/>
        </p:nvSpPr>
        <p:spPr>
          <a:xfrm>
            <a:off x="274320" y="2569464"/>
            <a:ext cx="1005840" cy="713232"/>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L3</a:t>
            </a:r>
            <a:endParaRPr lang="en-US" sz="2200" dirty="0"/>
          </a:p>
        </p:txBody>
      </p:sp>
      <p:sp>
        <p:nvSpPr>
          <p:cNvPr id="21" name="Text 19"/>
          <p:cNvSpPr/>
          <p:nvPr/>
        </p:nvSpPr>
        <p:spPr>
          <a:xfrm>
            <a:off x="1417320" y="2615184"/>
            <a:ext cx="2286000" cy="292608"/>
          </a:xfrm>
          <a:prstGeom prst="rect">
            <a:avLst/>
          </a:prstGeom>
          <a:noFill/>
          <a:ln/>
        </p:spPr>
        <p:txBody>
          <a:bodyPr wrap="square" rtlCol="0" anchor="ctr"/>
          <a:lstStyle/>
          <a:p>
            <a:pPr indent="0" marL="0">
              <a:buNone/>
            </a:pPr>
            <a:r>
              <a:rPr lang="en-US" sz="1100" b="1" dirty="0">
                <a:solidFill>
                  <a:srgbClr val="52B788"/>
                </a:solidFill>
                <a:latin typeface="Calibri" pitchFamily="34" charset="0"/>
                <a:ea typeface="Calibri" pitchFamily="34" charset="-122"/>
                <a:cs typeface="Calibri" pitchFamily="34" charset="-120"/>
              </a:rPr>
              <a:t>AIML MODEL LAYER</a:t>
            </a:r>
            <a:endParaRPr lang="en-US" sz="1100" dirty="0"/>
          </a:p>
        </p:txBody>
      </p:sp>
      <p:sp>
        <p:nvSpPr>
          <p:cNvPr id="22" name="Text 20"/>
          <p:cNvSpPr/>
          <p:nvPr/>
        </p:nvSpPr>
        <p:spPr>
          <a:xfrm>
            <a:off x="1417320" y="2916936"/>
            <a:ext cx="7223760" cy="320040"/>
          </a:xfrm>
          <a:prstGeom prst="rect">
            <a:avLst/>
          </a:prstGeom>
          <a:noFill/>
          <a:ln/>
        </p:spPr>
        <p:txBody>
          <a:bodyPr wrap="square" rtlCol="0" anchor="ctr"/>
          <a:lstStyle/>
          <a:p>
            <a:pPr indent="0" marL="0">
              <a:buNone/>
            </a:pPr>
            <a:r>
              <a:rPr lang="en-US" sz="950" dirty="0">
                <a:solidFill>
                  <a:srgbClr val="636E72"/>
                </a:solidFill>
                <a:latin typeface="Calibri" pitchFamily="34" charset="0"/>
                <a:ea typeface="Calibri" pitchFamily="34" charset="-122"/>
                <a:cs typeface="Calibri" pitchFamily="34" charset="-120"/>
              </a:rPr>
              <a:t>Random Forest (Yield) · Neural Network (Pattern) · SVM Classifier (Disease) · LSTM (Time-Series Growth)</a:t>
            </a:r>
            <a:endParaRPr lang="en-US" sz="950" dirty="0"/>
          </a:p>
        </p:txBody>
      </p:sp>
      <p:sp>
        <p:nvSpPr>
          <p:cNvPr id="23" name="Shape 21"/>
          <p:cNvSpPr/>
          <p:nvPr/>
        </p:nvSpPr>
        <p:spPr>
          <a:xfrm>
            <a:off x="704088" y="3282696"/>
            <a:ext cx="146304" cy="64008"/>
          </a:xfrm>
          <a:prstGeom prst="rect">
            <a:avLst/>
          </a:prstGeom>
          <a:solidFill>
            <a:srgbClr val="636E72"/>
          </a:solidFill>
          <a:ln w="12700">
            <a:solidFill>
              <a:srgbClr val="636E72"/>
            </a:solidFill>
            <a:prstDash val="solid"/>
          </a:ln>
        </p:spPr>
      </p:sp>
      <p:sp>
        <p:nvSpPr>
          <p:cNvPr id="24" name="Shape 22"/>
          <p:cNvSpPr/>
          <p:nvPr/>
        </p:nvSpPr>
        <p:spPr>
          <a:xfrm>
            <a:off x="274320" y="3374136"/>
            <a:ext cx="8595360" cy="713232"/>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274320" y="3374136"/>
            <a:ext cx="1005840" cy="713232"/>
          </a:xfrm>
          <a:prstGeom prst="rect">
            <a:avLst/>
          </a:prstGeom>
          <a:solidFill>
            <a:srgbClr val="D4A017"/>
          </a:solidFill>
          <a:ln w="12700">
            <a:solidFill>
              <a:srgbClr val="D4A017"/>
            </a:solidFill>
            <a:prstDash val="solid"/>
          </a:ln>
        </p:spPr>
      </p:sp>
      <p:sp>
        <p:nvSpPr>
          <p:cNvPr id="26" name="Text 24"/>
          <p:cNvSpPr/>
          <p:nvPr/>
        </p:nvSpPr>
        <p:spPr>
          <a:xfrm>
            <a:off x="274320" y="3374136"/>
            <a:ext cx="1005840" cy="713232"/>
          </a:xfrm>
          <a:prstGeom prst="rect">
            <a:avLst/>
          </a:prstGeom>
          <a:noFill/>
          <a:ln/>
        </p:spPr>
        <p:txBody>
          <a:bodyPr wrap="square" rtlCol="0" anchor="ctr"/>
          <a:lstStyle/>
          <a:p>
            <a:pPr algn="ctr" indent="0" marL="0">
              <a:buNone/>
            </a:pPr>
            <a:r>
              <a:rPr lang="en-US" sz="2200" b="1" dirty="0">
                <a:solidFill>
                  <a:srgbClr val="2D3436"/>
                </a:solidFill>
                <a:latin typeface="Georgia" pitchFamily="34" charset="0"/>
                <a:ea typeface="Georgia" pitchFamily="34" charset="-122"/>
                <a:cs typeface="Georgia" pitchFamily="34" charset="-120"/>
              </a:rPr>
              <a:t>L4</a:t>
            </a:r>
            <a:endParaRPr lang="en-US" sz="2200" dirty="0"/>
          </a:p>
        </p:txBody>
      </p:sp>
      <p:sp>
        <p:nvSpPr>
          <p:cNvPr id="27" name="Text 25"/>
          <p:cNvSpPr/>
          <p:nvPr/>
        </p:nvSpPr>
        <p:spPr>
          <a:xfrm>
            <a:off x="1417320" y="3419856"/>
            <a:ext cx="2286000" cy="292608"/>
          </a:xfrm>
          <a:prstGeom prst="rect">
            <a:avLst/>
          </a:prstGeom>
          <a:noFill/>
          <a:ln/>
        </p:spPr>
        <p:txBody>
          <a:bodyPr wrap="square"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DECISION ENGINE</a:t>
            </a:r>
            <a:endParaRPr lang="en-US" sz="1100" dirty="0"/>
          </a:p>
        </p:txBody>
      </p:sp>
      <p:sp>
        <p:nvSpPr>
          <p:cNvPr id="28" name="Text 26"/>
          <p:cNvSpPr/>
          <p:nvPr/>
        </p:nvSpPr>
        <p:spPr>
          <a:xfrm>
            <a:off x="1417320" y="3721608"/>
            <a:ext cx="7223760" cy="320040"/>
          </a:xfrm>
          <a:prstGeom prst="rect">
            <a:avLst/>
          </a:prstGeom>
          <a:noFill/>
          <a:ln/>
        </p:spPr>
        <p:txBody>
          <a:bodyPr wrap="square" rtlCol="0" anchor="ctr"/>
          <a:lstStyle/>
          <a:p>
            <a:pPr indent="0" marL="0">
              <a:buNone/>
            </a:pPr>
            <a:r>
              <a:rPr lang="en-US" sz="950" dirty="0">
                <a:solidFill>
                  <a:srgbClr val="636E72"/>
                </a:solidFill>
                <a:latin typeface="Calibri" pitchFamily="34" charset="0"/>
                <a:ea typeface="Calibri" pitchFamily="34" charset="-122"/>
                <a:cs typeface="Calibri" pitchFamily="34" charset="-120"/>
              </a:rPr>
              <a:t>Weighted Voting · Cross-validation vs Historical Data · Outputs: N Split Ratio + Confidence Score</a:t>
            </a:r>
            <a:endParaRPr lang="en-US" sz="950" dirty="0"/>
          </a:p>
        </p:txBody>
      </p:sp>
      <p:sp>
        <p:nvSpPr>
          <p:cNvPr id="29" name="Shape 27"/>
          <p:cNvSpPr/>
          <p:nvPr/>
        </p:nvSpPr>
        <p:spPr>
          <a:xfrm>
            <a:off x="704088" y="4087368"/>
            <a:ext cx="146304" cy="64008"/>
          </a:xfrm>
          <a:prstGeom prst="rect">
            <a:avLst/>
          </a:prstGeom>
          <a:solidFill>
            <a:srgbClr val="636E72"/>
          </a:solidFill>
          <a:ln w="12700">
            <a:solidFill>
              <a:srgbClr val="636E72"/>
            </a:solidFill>
            <a:prstDash val="solid"/>
          </a:ln>
        </p:spPr>
      </p:sp>
      <p:sp>
        <p:nvSpPr>
          <p:cNvPr id="30" name="Shape 28"/>
          <p:cNvSpPr/>
          <p:nvPr/>
        </p:nvSpPr>
        <p:spPr>
          <a:xfrm>
            <a:off x="274320" y="4178808"/>
            <a:ext cx="8595360" cy="713232"/>
          </a:xfrm>
          <a:prstGeom prst="rect">
            <a:avLst/>
          </a:prstGeom>
          <a:solidFill>
            <a:srgbClr val="FFFFFF"/>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274320" y="4178808"/>
            <a:ext cx="1005840" cy="713232"/>
          </a:xfrm>
          <a:prstGeom prst="rect">
            <a:avLst/>
          </a:prstGeom>
          <a:solidFill>
            <a:srgbClr val="2D6A4F"/>
          </a:solidFill>
          <a:ln w="12700">
            <a:solidFill>
              <a:srgbClr val="2D6A4F"/>
            </a:solidFill>
            <a:prstDash val="solid"/>
          </a:ln>
        </p:spPr>
      </p:sp>
      <p:sp>
        <p:nvSpPr>
          <p:cNvPr id="32" name="Text 30"/>
          <p:cNvSpPr/>
          <p:nvPr/>
        </p:nvSpPr>
        <p:spPr>
          <a:xfrm>
            <a:off x="274320" y="4178808"/>
            <a:ext cx="1005840" cy="713232"/>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L5</a:t>
            </a:r>
            <a:endParaRPr lang="en-US" sz="2200" dirty="0"/>
          </a:p>
        </p:txBody>
      </p:sp>
      <p:sp>
        <p:nvSpPr>
          <p:cNvPr id="33" name="Text 31"/>
          <p:cNvSpPr/>
          <p:nvPr/>
        </p:nvSpPr>
        <p:spPr>
          <a:xfrm>
            <a:off x="1417320" y="4224528"/>
            <a:ext cx="2286000" cy="292608"/>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OUTPUT LAYER</a:t>
            </a:r>
            <a:endParaRPr lang="en-US" sz="1100" dirty="0"/>
          </a:p>
        </p:txBody>
      </p:sp>
      <p:sp>
        <p:nvSpPr>
          <p:cNvPr id="34" name="Text 32"/>
          <p:cNvSpPr/>
          <p:nvPr/>
        </p:nvSpPr>
        <p:spPr>
          <a:xfrm>
            <a:off x="1417320" y="4526280"/>
            <a:ext cx="7223760" cy="320040"/>
          </a:xfrm>
          <a:prstGeom prst="rect">
            <a:avLst/>
          </a:prstGeom>
          <a:noFill/>
          <a:ln/>
        </p:spPr>
        <p:txBody>
          <a:bodyPr wrap="square" rtlCol="0" anchor="ctr"/>
          <a:lstStyle/>
          <a:p>
            <a:pPr indent="0" marL="0">
              <a:buNone/>
            </a:pPr>
            <a:r>
              <a:rPr lang="en-US" sz="950" dirty="0">
                <a:solidFill>
                  <a:srgbClr val="636E72"/>
                </a:solidFill>
                <a:latin typeface="Calibri" pitchFamily="34" charset="0"/>
                <a:ea typeface="Calibri" pitchFamily="34" charset="-122"/>
                <a:cs typeface="Calibri" pitchFamily="34" charset="-120"/>
              </a:rPr>
              <a:t>Mobile/Web Dashboard · PDF Reports · SMS/Push Alerts · English + Kannada Language Support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05</a:t>
            </a:r>
            <a:endParaRPr lang="en-US" sz="3600" dirty="0"/>
          </a:p>
        </p:txBody>
      </p:sp>
      <p:sp>
        <p:nvSpPr>
          <p:cNvPr id="5" name="Text 3"/>
          <p:cNvSpPr/>
          <p:nvPr/>
        </p:nvSpPr>
        <p:spPr>
          <a:xfrm>
            <a:off x="1097280" y="164592"/>
            <a:ext cx="7772400" cy="50292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RESULTS &amp; ML MODEL PERFORMANCE</a:t>
            </a:r>
            <a:endParaRPr lang="en-US" sz="2400" dirty="0"/>
          </a:p>
        </p:txBody>
      </p:sp>
      <p:sp>
        <p:nvSpPr>
          <p:cNvPr id="6" name="Shape 4"/>
          <p:cNvSpPr/>
          <p:nvPr/>
        </p:nvSpPr>
        <p:spPr>
          <a:xfrm>
            <a:off x="274320" y="960120"/>
            <a:ext cx="2011680" cy="1280160"/>
          </a:xfrm>
          <a:prstGeom prst="rect">
            <a:avLst/>
          </a:prstGeom>
          <a:solidFill>
            <a:srgbClr val="FFFFFF"/>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960120"/>
            <a:ext cx="2011680" cy="164592"/>
          </a:xfrm>
          <a:prstGeom prst="rect">
            <a:avLst/>
          </a:prstGeom>
          <a:solidFill>
            <a:srgbClr val="2D6A4F"/>
          </a:solidFill>
          <a:ln w="12700">
            <a:solidFill>
              <a:srgbClr val="2D6A4F"/>
            </a:solidFill>
            <a:prstDash val="solid"/>
          </a:ln>
        </p:spPr>
      </p:sp>
      <p:sp>
        <p:nvSpPr>
          <p:cNvPr id="8" name="Text 6"/>
          <p:cNvSpPr/>
          <p:nvPr/>
        </p:nvSpPr>
        <p:spPr>
          <a:xfrm>
            <a:off x="274320" y="1170432"/>
            <a:ext cx="2011680" cy="640080"/>
          </a:xfrm>
          <a:prstGeom prst="rect">
            <a:avLst/>
          </a:prstGeom>
          <a:noFill/>
          <a:ln/>
        </p:spPr>
        <p:txBody>
          <a:bodyPr wrap="square" rtlCol="0" anchor="ctr"/>
          <a:lstStyle/>
          <a:p>
            <a:pPr algn="ctr" indent="0" marL="0">
              <a:buNone/>
            </a:pPr>
            <a:r>
              <a:rPr lang="en-US" sz="3200" b="1" dirty="0">
                <a:solidFill>
                  <a:srgbClr val="2D6A4F"/>
                </a:solidFill>
                <a:latin typeface="Georgia" pitchFamily="34" charset="0"/>
                <a:ea typeface="Georgia" pitchFamily="34" charset="-122"/>
                <a:cs typeface="Georgia" pitchFamily="34" charset="-120"/>
              </a:rPr>
              <a:t>0.9743</a:t>
            </a:r>
            <a:endParaRPr lang="en-US" sz="3200" dirty="0"/>
          </a:p>
        </p:txBody>
      </p:sp>
      <p:sp>
        <p:nvSpPr>
          <p:cNvPr id="9" name="Text 7"/>
          <p:cNvSpPr/>
          <p:nvPr/>
        </p:nvSpPr>
        <p:spPr>
          <a:xfrm>
            <a:off x="274320" y="1810512"/>
            <a:ext cx="2011680" cy="256032"/>
          </a:xfrm>
          <a:prstGeom prst="rect">
            <a:avLst/>
          </a:prstGeom>
          <a:noFill/>
          <a:ln/>
        </p:spPr>
        <p:txBody>
          <a:bodyPr wrap="square" rtlCol="0" anchor="ctr"/>
          <a:lstStyle/>
          <a:p>
            <a:pPr algn="ctr" indent="0" marL="0">
              <a:buNone/>
            </a:pPr>
            <a:r>
              <a:rPr lang="en-US" sz="1050" b="1" dirty="0">
                <a:solidFill>
                  <a:srgbClr val="2D3436"/>
                </a:solidFill>
                <a:latin typeface="Calibri" pitchFamily="34" charset="0"/>
                <a:ea typeface="Calibri" pitchFamily="34" charset="-122"/>
                <a:cs typeface="Calibri" pitchFamily="34" charset="-120"/>
              </a:rPr>
              <a:t>R² Score</a:t>
            </a:r>
            <a:endParaRPr lang="en-US" sz="1050" dirty="0"/>
          </a:p>
        </p:txBody>
      </p:sp>
      <p:sp>
        <p:nvSpPr>
          <p:cNvPr id="10" name="Text 8"/>
          <p:cNvSpPr/>
          <p:nvPr/>
        </p:nvSpPr>
        <p:spPr>
          <a:xfrm>
            <a:off x="274320" y="2084832"/>
            <a:ext cx="2011680" cy="164592"/>
          </a:xfrm>
          <a:prstGeom prst="rect">
            <a:avLst/>
          </a:prstGeom>
          <a:noFill/>
          <a:ln/>
        </p:spPr>
        <p:txBody>
          <a:bodyPr wrap="square" rtlCol="0" anchor="ctr"/>
          <a:lstStyle/>
          <a:p>
            <a:pPr algn="ctr" indent="0" marL="0">
              <a:buNone/>
            </a:pPr>
            <a:r>
              <a:rPr lang="en-US" sz="850" i="1" dirty="0">
                <a:solidFill>
                  <a:srgbClr val="636E72"/>
                </a:solidFill>
                <a:latin typeface="Calibri" pitchFamily="34" charset="0"/>
                <a:ea typeface="Calibri" pitchFamily="34" charset="-122"/>
                <a:cs typeface="Calibri" pitchFamily="34" charset="-120"/>
              </a:rPr>
              <a:t>Random Forest Accuracy</a:t>
            </a:r>
            <a:endParaRPr lang="en-US" sz="850" dirty="0"/>
          </a:p>
        </p:txBody>
      </p:sp>
      <p:sp>
        <p:nvSpPr>
          <p:cNvPr id="11" name="Shape 9"/>
          <p:cNvSpPr/>
          <p:nvPr/>
        </p:nvSpPr>
        <p:spPr>
          <a:xfrm>
            <a:off x="2450592" y="960120"/>
            <a:ext cx="2011680" cy="1280160"/>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450592" y="960120"/>
            <a:ext cx="2011680" cy="164592"/>
          </a:xfrm>
          <a:prstGeom prst="rect">
            <a:avLst/>
          </a:prstGeom>
          <a:solidFill>
            <a:srgbClr val="D4A017"/>
          </a:solidFill>
          <a:ln w="12700">
            <a:solidFill>
              <a:srgbClr val="D4A017"/>
            </a:solidFill>
            <a:prstDash val="solid"/>
          </a:ln>
        </p:spPr>
      </p:sp>
      <p:sp>
        <p:nvSpPr>
          <p:cNvPr id="13" name="Text 11"/>
          <p:cNvSpPr/>
          <p:nvPr/>
        </p:nvSpPr>
        <p:spPr>
          <a:xfrm>
            <a:off x="2450592" y="1170432"/>
            <a:ext cx="2011680" cy="640080"/>
          </a:xfrm>
          <a:prstGeom prst="rect">
            <a:avLst/>
          </a:prstGeom>
          <a:noFill/>
          <a:ln/>
        </p:spPr>
        <p:txBody>
          <a:bodyPr wrap="square" rtlCol="0" anchor="ctr"/>
          <a:lstStyle/>
          <a:p>
            <a:pPr algn="ctr" indent="0" marL="0">
              <a:buNone/>
            </a:pPr>
            <a:r>
              <a:rPr lang="en-US" sz="3200" b="1" dirty="0">
                <a:solidFill>
                  <a:srgbClr val="D4A017"/>
                </a:solidFill>
                <a:latin typeface="Georgia" pitchFamily="34" charset="0"/>
                <a:ea typeface="Georgia" pitchFamily="34" charset="-122"/>
                <a:cs typeface="Georgia" pitchFamily="34" charset="-120"/>
              </a:rPr>
              <a:t>0.6821</a:t>
            </a:r>
            <a:endParaRPr lang="en-US" sz="3200" dirty="0"/>
          </a:p>
        </p:txBody>
      </p:sp>
      <p:sp>
        <p:nvSpPr>
          <p:cNvPr id="14" name="Text 12"/>
          <p:cNvSpPr/>
          <p:nvPr/>
        </p:nvSpPr>
        <p:spPr>
          <a:xfrm>
            <a:off x="2450592" y="1810512"/>
            <a:ext cx="2011680" cy="256032"/>
          </a:xfrm>
          <a:prstGeom prst="rect">
            <a:avLst/>
          </a:prstGeom>
          <a:noFill/>
          <a:ln/>
        </p:spPr>
        <p:txBody>
          <a:bodyPr wrap="square" rtlCol="0" anchor="ctr"/>
          <a:lstStyle/>
          <a:p>
            <a:pPr algn="ctr" indent="0" marL="0">
              <a:buNone/>
            </a:pPr>
            <a:r>
              <a:rPr lang="en-US" sz="1050" b="1" dirty="0">
                <a:solidFill>
                  <a:srgbClr val="2D3436"/>
                </a:solidFill>
                <a:latin typeface="Calibri" pitchFamily="34" charset="0"/>
                <a:ea typeface="Calibri" pitchFamily="34" charset="-122"/>
                <a:cs typeface="Calibri" pitchFamily="34" charset="-120"/>
              </a:rPr>
              <a:t>RMSE</a:t>
            </a:r>
            <a:endParaRPr lang="en-US" sz="1050" dirty="0"/>
          </a:p>
        </p:txBody>
      </p:sp>
      <p:sp>
        <p:nvSpPr>
          <p:cNvPr id="15" name="Text 13"/>
          <p:cNvSpPr/>
          <p:nvPr/>
        </p:nvSpPr>
        <p:spPr>
          <a:xfrm>
            <a:off x="2450592" y="2084832"/>
            <a:ext cx="2011680" cy="164592"/>
          </a:xfrm>
          <a:prstGeom prst="rect">
            <a:avLst/>
          </a:prstGeom>
          <a:noFill/>
          <a:ln/>
        </p:spPr>
        <p:txBody>
          <a:bodyPr wrap="square" rtlCol="0" anchor="ctr"/>
          <a:lstStyle/>
          <a:p>
            <a:pPr algn="ctr" indent="0" marL="0">
              <a:buNone/>
            </a:pPr>
            <a:r>
              <a:rPr lang="en-US" sz="850" i="1" dirty="0">
                <a:solidFill>
                  <a:srgbClr val="636E72"/>
                </a:solidFill>
                <a:latin typeface="Calibri" pitchFamily="34" charset="0"/>
                <a:ea typeface="Calibri" pitchFamily="34" charset="-122"/>
                <a:cs typeface="Calibri" pitchFamily="34" charset="-120"/>
              </a:rPr>
              <a:t>Root Mean Sq Error</a:t>
            </a:r>
            <a:endParaRPr lang="en-US" sz="850" dirty="0"/>
          </a:p>
        </p:txBody>
      </p:sp>
      <p:sp>
        <p:nvSpPr>
          <p:cNvPr id="16" name="Shape 14"/>
          <p:cNvSpPr/>
          <p:nvPr/>
        </p:nvSpPr>
        <p:spPr>
          <a:xfrm>
            <a:off x="4626864" y="960120"/>
            <a:ext cx="2011680" cy="1280160"/>
          </a:xfrm>
          <a:prstGeom prst="rect">
            <a:avLst/>
          </a:prstGeom>
          <a:solidFill>
            <a:srgbClr val="FFFFFF"/>
          </a:solidFill>
          <a:ln w="12700">
            <a:solidFill>
              <a:srgbClr val="1B4332"/>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626864" y="960120"/>
            <a:ext cx="2011680" cy="164592"/>
          </a:xfrm>
          <a:prstGeom prst="rect">
            <a:avLst/>
          </a:prstGeom>
          <a:solidFill>
            <a:srgbClr val="1B4332"/>
          </a:solidFill>
          <a:ln w="12700">
            <a:solidFill>
              <a:srgbClr val="1B4332"/>
            </a:solidFill>
            <a:prstDash val="solid"/>
          </a:ln>
        </p:spPr>
      </p:sp>
      <p:sp>
        <p:nvSpPr>
          <p:cNvPr id="18" name="Text 16"/>
          <p:cNvSpPr/>
          <p:nvPr/>
        </p:nvSpPr>
        <p:spPr>
          <a:xfrm>
            <a:off x="4626864" y="1170432"/>
            <a:ext cx="2011680" cy="640080"/>
          </a:xfrm>
          <a:prstGeom prst="rect">
            <a:avLst/>
          </a:prstGeom>
          <a:noFill/>
          <a:ln/>
        </p:spPr>
        <p:txBody>
          <a:bodyPr wrap="square" rtlCol="0" anchor="ctr"/>
          <a:lstStyle/>
          <a:p>
            <a:pPr algn="ctr" indent="0" marL="0">
              <a:buNone/>
            </a:pPr>
            <a:r>
              <a:rPr lang="en-US" sz="3200" b="1" dirty="0">
                <a:solidFill>
                  <a:srgbClr val="1B4332"/>
                </a:solidFill>
                <a:latin typeface="Georgia" pitchFamily="34" charset="0"/>
                <a:ea typeface="Georgia" pitchFamily="34" charset="-122"/>
                <a:cs typeface="Georgia" pitchFamily="34" charset="-120"/>
              </a:rPr>
              <a:t>0.42</a:t>
            </a:r>
            <a:endParaRPr lang="en-US" sz="3200" dirty="0"/>
          </a:p>
        </p:txBody>
      </p:sp>
      <p:sp>
        <p:nvSpPr>
          <p:cNvPr id="19" name="Text 17"/>
          <p:cNvSpPr/>
          <p:nvPr/>
        </p:nvSpPr>
        <p:spPr>
          <a:xfrm>
            <a:off x="4626864" y="1810512"/>
            <a:ext cx="2011680" cy="256032"/>
          </a:xfrm>
          <a:prstGeom prst="rect">
            <a:avLst/>
          </a:prstGeom>
          <a:noFill/>
          <a:ln/>
        </p:spPr>
        <p:txBody>
          <a:bodyPr wrap="square" rtlCol="0" anchor="ctr"/>
          <a:lstStyle/>
          <a:p>
            <a:pPr algn="ctr" indent="0" marL="0">
              <a:buNone/>
            </a:pPr>
            <a:r>
              <a:rPr lang="en-US" sz="1050" b="1" dirty="0">
                <a:solidFill>
                  <a:srgbClr val="2D3436"/>
                </a:solidFill>
                <a:latin typeface="Calibri" pitchFamily="34" charset="0"/>
                <a:ea typeface="Calibri" pitchFamily="34" charset="-122"/>
                <a:cs typeface="Calibri" pitchFamily="34" charset="-120"/>
              </a:rPr>
              <a:t>Split Index</a:t>
            </a:r>
            <a:endParaRPr lang="en-US" sz="1050" dirty="0"/>
          </a:p>
        </p:txBody>
      </p:sp>
      <p:sp>
        <p:nvSpPr>
          <p:cNvPr id="20" name="Text 18"/>
          <p:cNvSpPr/>
          <p:nvPr/>
        </p:nvSpPr>
        <p:spPr>
          <a:xfrm>
            <a:off x="4626864" y="2084832"/>
            <a:ext cx="2011680" cy="164592"/>
          </a:xfrm>
          <a:prstGeom prst="rect">
            <a:avLst/>
          </a:prstGeom>
          <a:noFill/>
          <a:ln/>
        </p:spPr>
        <p:txBody>
          <a:bodyPr wrap="square" rtlCol="0" anchor="ctr"/>
          <a:lstStyle/>
          <a:p>
            <a:pPr algn="ctr" indent="0" marL="0">
              <a:buNone/>
            </a:pPr>
            <a:r>
              <a:rPr lang="en-US" sz="850" i="1" dirty="0">
                <a:solidFill>
                  <a:srgbClr val="636E72"/>
                </a:solidFill>
                <a:latin typeface="Calibri" pitchFamily="34" charset="0"/>
                <a:ea typeface="Calibri" pitchFamily="34" charset="-122"/>
                <a:cs typeface="Calibri" pitchFamily="34" charset="-120"/>
              </a:rPr>
              <a:t>Top Feature Importance</a:t>
            </a:r>
            <a:endParaRPr lang="en-US" sz="850" dirty="0"/>
          </a:p>
        </p:txBody>
      </p:sp>
      <p:sp>
        <p:nvSpPr>
          <p:cNvPr id="21" name="Shape 19"/>
          <p:cNvSpPr/>
          <p:nvPr/>
        </p:nvSpPr>
        <p:spPr>
          <a:xfrm>
            <a:off x="6803136" y="960120"/>
            <a:ext cx="2011680" cy="1280160"/>
          </a:xfrm>
          <a:prstGeom prst="rect">
            <a:avLst/>
          </a:prstGeom>
          <a:solidFill>
            <a:srgbClr val="FFFFFF"/>
          </a:solidFill>
          <a:ln w="12700">
            <a:solidFill>
              <a:srgbClr val="52B788"/>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803136" y="960120"/>
            <a:ext cx="2011680" cy="164592"/>
          </a:xfrm>
          <a:prstGeom prst="rect">
            <a:avLst/>
          </a:prstGeom>
          <a:solidFill>
            <a:srgbClr val="52B788"/>
          </a:solidFill>
          <a:ln w="12700">
            <a:solidFill>
              <a:srgbClr val="52B788"/>
            </a:solidFill>
            <a:prstDash val="solid"/>
          </a:ln>
        </p:spPr>
      </p:sp>
      <p:sp>
        <p:nvSpPr>
          <p:cNvPr id="23" name="Text 21"/>
          <p:cNvSpPr/>
          <p:nvPr/>
        </p:nvSpPr>
        <p:spPr>
          <a:xfrm>
            <a:off x="6803136" y="1170432"/>
            <a:ext cx="2011680" cy="640080"/>
          </a:xfrm>
          <a:prstGeom prst="rect">
            <a:avLst/>
          </a:prstGeom>
          <a:noFill/>
          <a:ln/>
        </p:spPr>
        <p:txBody>
          <a:bodyPr wrap="square" rtlCol="0" anchor="ctr"/>
          <a:lstStyle/>
          <a:p>
            <a:pPr algn="ctr" indent="0" marL="0">
              <a:buNone/>
            </a:pPr>
            <a:r>
              <a:rPr lang="en-US" sz="3200" b="1" dirty="0">
                <a:solidFill>
                  <a:srgbClr val="52B788"/>
                </a:solidFill>
                <a:latin typeface="Georgia" pitchFamily="34" charset="0"/>
                <a:ea typeface="Georgia" pitchFamily="34" charset="-122"/>
                <a:cs typeface="Georgia" pitchFamily="34" charset="-120"/>
              </a:rPr>
              <a:t>T4</a:t>
            </a:r>
            <a:endParaRPr lang="en-US" sz="3200" dirty="0"/>
          </a:p>
        </p:txBody>
      </p:sp>
      <p:sp>
        <p:nvSpPr>
          <p:cNvPr id="24" name="Text 22"/>
          <p:cNvSpPr/>
          <p:nvPr/>
        </p:nvSpPr>
        <p:spPr>
          <a:xfrm>
            <a:off x="6803136" y="1810512"/>
            <a:ext cx="2011680" cy="256032"/>
          </a:xfrm>
          <a:prstGeom prst="rect">
            <a:avLst/>
          </a:prstGeom>
          <a:noFill/>
          <a:ln/>
        </p:spPr>
        <p:txBody>
          <a:bodyPr wrap="square" rtlCol="0" anchor="ctr"/>
          <a:lstStyle/>
          <a:p>
            <a:pPr algn="ctr" indent="0" marL="0">
              <a:buNone/>
            </a:pPr>
            <a:r>
              <a:rPr lang="en-US" sz="1050" b="1" dirty="0">
                <a:solidFill>
                  <a:srgbClr val="2D3436"/>
                </a:solidFill>
                <a:latin typeface="Calibri" pitchFamily="34" charset="0"/>
                <a:ea typeface="Calibri" pitchFamily="34" charset="-122"/>
                <a:cs typeface="Calibri" pitchFamily="34" charset="-120"/>
              </a:rPr>
              <a:t>Optimal Treatment</a:t>
            </a:r>
            <a:endParaRPr lang="en-US" sz="1050" dirty="0"/>
          </a:p>
        </p:txBody>
      </p:sp>
      <p:sp>
        <p:nvSpPr>
          <p:cNvPr id="25" name="Text 23"/>
          <p:cNvSpPr/>
          <p:nvPr/>
        </p:nvSpPr>
        <p:spPr>
          <a:xfrm>
            <a:off x="6803136" y="2084832"/>
            <a:ext cx="2011680" cy="164592"/>
          </a:xfrm>
          <a:prstGeom prst="rect">
            <a:avLst/>
          </a:prstGeom>
          <a:noFill/>
          <a:ln/>
        </p:spPr>
        <p:txBody>
          <a:bodyPr wrap="square" rtlCol="0" anchor="ctr"/>
          <a:lstStyle/>
          <a:p>
            <a:pPr algn="ctr" indent="0" marL="0">
              <a:buNone/>
            </a:pPr>
            <a:r>
              <a:rPr lang="en-US" sz="850" i="1" dirty="0">
                <a:solidFill>
                  <a:srgbClr val="636E72"/>
                </a:solidFill>
                <a:latin typeface="Calibri" pitchFamily="34" charset="0"/>
                <a:ea typeface="Calibri" pitchFamily="34" charset="-122"/>
                <a:cs typeface="Calibri" pitchFamily="34" charset="-120"/>
              </a:rPr>
              <a:t>AI Recommendation</a:t>
            </a:r>
            <a:endParaRPr lang="en-US" sz="850" dirty="0"/>
          </a:p>
        </p:txBody>
      </p:sp>
      <p:sp>
        <p:nvSpPr>
          <p:cNvPr id="26" name="Shape 24"/>
          <p:cNvSpPr/>
          <p:nvPr/>
        </p:nvSpPr>
        <p:spPr>
          <a:xfrm>
            <a:off x="274320" y="2423160"/>
            <a:ext cx="4114800" cy="251460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274320" y="2423160"/>
            <a:ext cx="4114800" cy="347472"/>
          </a:xfrm>
          <a:prstGeom prst="rect">
            <a:avLst/>
          </a:prstGeom>
          <a:solidFill>
            <a:srgbClr val="2D6A4F"/>
          </a:solidFill>
          <a:ln w="12700">
            <a:solidFill>
              <a:srgbClr val="2D6A4F"/>
            </a:solidFill>
            <a:prstDash val="solid"/>
          </a:ln>
        </p:spPr>
      </p:sp>
      <p:sp>
        <p:nvSpPr>
          <p:cNvPr id="28" name="Text 26"/>
          <p:cNvSpPr/>
          <p:nvPr/>
        </p:nvSpPr>
        <p:spPr>
          <a:xfrm>
            <a:off x="320040" y="2441448"/>
            <a:ext cx="397764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Feature Importance (Random Forest)</a:t>
            </a:r>
            <a:endParaRPr lang="en-US" sz="1100" dirty="0"/>
          </a:p>
        </p:txBody>
      </p:sp>
      <p:sp>
        <p:nvSpPr>
          <p:cNvPr id="29" name="Text 27"/>
          <p:cNvSpPr/>
          <p:nvPr/>
        </p:nvSpPr>
        <p:spPr>
          <a:xfrm>
            <a:off x="411480" y="2907792"/>
            <a:ext cx="1371600" cy="274320"/>
          </a:xfrm>
          <a:prstGeom prst="rect">
            <a:avLst/>
          </a:prstGeom>
          <a:noFill/>
          <a:ln/>
        </p:spPr>
        <p:txBody>
          <a:bodyPr wrap="square" rtlCol="0" anchor="ctr"/>
          <a:lstStyle/>
          <a:p>
            <a:pPr indent="0" marL="0">
              <a:buNone/>
            </a:pPr>
            <a:r>
              <a:rPr lang="en-US" sz="900" b="1" dirty="0">
                <a:solidFill>
                  <a:srgbClr val="2D3436"/>
                </a:solidFill>
                <a:latin typeface="Calibri" pitchFamily="34" charset="0"/>
                <a:ea typeface="Calibri" pitchFamily="34" charset="-122"/>
                <a:cs typeface="Calibri" pitchFamily="34" charset="-120"/>
              </a:rPr>
              <a:t>split_index</a:t>
            </a:r>
            <a:endParaRPr lang="en-US" sz="900" dirty="0"/>
          </a:p>
        </p:txBody>
      </p:sp>
      <p:sp>
        <p:nvSpPr>
          <p:cNvPr id="30" name="Shape 28"/>
          <p:cNvSpPr/>
          <p:nvPr/>
        </p:nvSpPr>
        <p:spPr>
          <a:xfrm>
            <a:off x="1828800" y="2935224"/>
            <a:ext cx="1231880" cy="219456"/>
          </a:xfrm>
          <a:prstGeom prst="rect">
            <a:avLst/>
          </a:prstGeom>
          <a:solidFill>
            <a:srgbClr val="D4A017"/>
          </a:solidFill>
          <a:ln w="12700">
            <a:solidFill>
              <a:srgbClr val="D4A017"/>
            </a:solidFill>
            <a:prstDash val="solid"/>
          </a:ln>
        </p:spPr>
      </p:sp>
      <p:sp>
        <p:nvSpPr>
          <p:cNvPr id="31" name="Text 29"/>
          <p:cNvSpPr/>
          <p:nvPr/>
        </p:nvSpPr>
        <p:spPr>
          <a:xfrm>
            <a:off x="3106400" y="2907792"/>
            <a:ext cx="548640" cy="274320"/>
          </a:xfrm>
          <a:prstGeom prst="rect">
            <a:avLst/>
          </a:prstGeom>
          <a:noFill/>
          <a:ln/>
        </p:spPr>
        <p:txBody>
          <a:bodyPr wrap="square" rtlCol="0" anchor="ctr"/>
          <a:lstStyle/>
          <a:p>
            <a:pPr indent="0" marL="0">
              <a:buNone/>
            </a:pPr>
            <a:r>
              <a:rPr lang="en-US" sz="900" b="1" dirty="0">
                <a:solidFill>
                  <a:srgbClr val="D4A017"/>
                </a:solidFill>
                <a:latin typeface="Calibri" pitchFamily="34" charset="0"/>
                <a:ea typeface="Calibri" pitchFamily="34" charset="-122"/>
                <a:cs typeface="Calibri" pitchFamily="34" charset="-120"/>
              </a:rPr>
              <a:t>42.1%</a:t>
            </a:r>
            <a:endParaRPr lang="en-US" sz="900" dirty="0"/>
          </a:p>
        </p:txBody>
      </p:sp>
      <p:sp>
        <p:nvSpPr>
          <p:cNvPr id="32" name="Text 30"/>
          <p:cNvSpPr/>
          <p:nvPr/>
        </p:nvSpPr>
        <p:spPr>
          <a:xfrm>
            <a:off x="411480" y="3383280"/>
            <a:ext cx="1371600" cy="274320"/>
          </a:xfrm>
          <a:prstGeom prst="rect">
            <a:avLst/>
          </a:prstGeom>
          <a:noFill/>
          <a:ln/>
        </p:spPr>
        <p:txBody>
          <a:bodyPr wrap="square" rtlCol="0" anchor="ctr"/>
          <a:lstStyle/>
          <a:p>
            <a:pPr indent="0" marL="0">
              <a:buNone/>
            </a:pPr>
            <a:r>
              <a:rPr lang="en-US" sz="900" b="1" dirty="0">
                <a:solidFill>
                  <a:srgbClr val="2D3436"/>
                </a:solidFill>
                <a:latin typeface="Calibri" pitchFamily="34" charset="0"/>
                <a:ea typeface="Calibri" pitchFamily="34" charset="-122"/>
                <a:cs typeface="Calibri" pitchFamily="34" charset="-120"/>
              </a:rPr>
              <a:t>N_30das_pct</a:t>
            </a:r>
            <a:endParaRPr lang="en-US" sz="900" dirty="0"/>
          </a:p>
        </p:txBody>
      </p:sp>
      <p:sp>
        <p:nvSpPr>
          <p:cNvPr id="33" name="Shape 31"/>
          <p:cNvSpPr/>
          <p:nvPr/>
        </p:nvSpPr>
        <p:spPr>
          <a:xfrm>
            <a:off x="1828800" y="3410712"/>
            <a:ext cx="874898" cy="219456"/>
          </a:xfrm>
          <a:prstGeom prst="rect">
            <a:avLst/>
          </a:prstGeom>
          <a:solidFill>
            <a:srgbClr val="2D6A4F"/>
          </a:solidFill>
          <a:ln w="12700">
            <a:solidFill>
              <a:srgbClr val="2D6A4F"/>
            </a:solidFill>
            <a:prstDash val="solid"/>
          </a:ln>
        </p:spPr>
      </p:sp>
      <p:sp>
        <p:nvSpPr>
          <p:cNvPr id="34" name="Text 32"/>
          <p:cNvSpPr/>
          <p:nvPr/>
        </p:nvSpPr>
        <p:spPr>
          <a:xfrm>
            <a:off x="2749418" y="3383280"/>
            <a:ext cx="548640" cy="274320"/>
          </a:xfrm>
          <a:prstGeom prst="rect">
            <a:avLst/>
          </a:prstGeom>
          <a:noFill/>
          <a:ln/>
        </p:spPr>
        <p:txBody>
          <a:bodyPr wrap="square" rtlCol="0" anchor="ctr"/>
          <a:lstStyle/>
          <a:p>
            <a:pPr indent="0" marL="0">
              <a:buNone/>
            </a:pPr>
            <a:r>
              <a:rPr lang="en-US" sz="900" b="1" dirty="0">
                <a:solidFill>
                  <a:srgbClr val="2D6A4F"/>
                </a:solidFill>
                <a:latin typeface="Calibri" pitchFamily="34" charset="0"/>
                <a:ea typeface="Calibri" pitchFamily="34" charset="-122"/>
                <a:cs typeface="Calibri" pitchFamily="34" charset="-120"/>
              </a:rPr>
              <a:t>29.9%</a:t>
            </a:r>
            <a:endParaRPr lang="en-US" sz="900" dirty="0"/>
          </a:p>
        </p:txBody>
      </p:sp>
      <p:sp>
        <p:nvSpPr>
          <p:cNvPr id="35" name="Text 33"/>
          <p:cNvSpPr/>
          <p:nvPr/>
        </p:nvSpPr>
        <p:spPr>
          <a:xfrm>
            <a:off x="411480" y="3858768"/>
            <a:ext cx="1371600" cy="274320"/>
          </a:xfrm>
          <a:prstGeom prst="rect">
            <a:avLst/>
          </a:prstGeom>
          <a:noFill/>
          <a:ln/>
        </p:spPr>
        <p:txBody>
          <a:bodyPr wrap="square" rtlCol="0" anchor="ctr"/>
          <a:lstStyle/>
          <a:p>
            <a:pPr indent="0" marL="0">
              <a:buNone/>
            </a:pPr>
            <a:r>
              <a:rPr lang="en-US" sz="900" b="1" dirty="0">
                <a:solidFill>
                  <a:srgbClr val="2D3436"/>
                </a:solidFill>
                <a:latin typeface="Calibri" pitchFamily="34" charset="0"/>
                <a:ea typeface="Calibri" pitchFamily="34" charset="-122"/>
                <a:cs typeface="Calibri" pitchFamily="34" charset="-120"/>
              </a:rPr>
              <a:t>N_45das_pct</a:t>
            </a:r>
            <a:endParaRPr lang="en-US" sz="900" dirty="0"/>
          </a:p>
        </p:txBody>
      </p:sp>
      <p:sp>
        <p:nvSpPr>
          <p:cNvPr id="36" name="Shape 34"/>
          <p:cNvSpPr/>
          <p:nvPr/>
        </p:nvSpPr>
        <p:spPr>
          <a:xfrm>
            <a:off x="1828800" y="3886200"/>
            <a:ext cx="450616" cy="219456"/>
          </a:xfrm>
          <a:prstGeom prst="rect">
            <a:avLst/>
          </a:prstGeom>
          <a:solidFill>
            <a:srgbClr val="2D6A4F"/>
          </a:solidFill>
          <a:ln w="12700">
            <a:solidFill>
              <a:srgbClr val="2D6A4F"/>
            </a:solidFill>
            <a:prstDash val="solid"/>
          </a:ln>
        </p:spPr>
      </p:sp>
      <p:sp>
        <p:nvSpPr>
          <p:cNvPr id="37" name="Text 35"/>
          <p:cNvSpPr/>
          <p:nvPr/>
        </p:nvSpPr>
        <p:spPr>
          <a:xfrm>
            <a:off x="2325136" y="3858768"/>
            <a:ext cx="548640" cy="274320"/>
          </a:xfrm>
          <a:prstGeom prst="rect">
            <a:avLst/>
          </a:prstGeom>
          <a:noFill/>
          <a:ln/>
        </p:spPr>
        <p:txBody>
          <a:bodyPr wrap="square" rtlCol="0" anchor="ctr"/>
          <a:lstStyle/>
          <a:p>
            <a:pPr indent="0" marL="0">
              <a:buNone/>
            </a:pPr>
            <a:r>
              <a:rPr lang="en-US" sz="900" b="1" dirty="0">
                <a:solidFill>
                  <a:srgbClr val="2D6A4F"/>
                </a:solidFill>
                <a:latin typeface="Calibri" pitchFamily="34" charset="0"/>
                <a:ea typeface="Calibri" pitchFamily="34" charset="-122"/>
                <a:cs typeface="Calibri" pitchFamily="34" charset="-120"/>
              </a:rPr>
              <a:t>15.4%</a:t>
            </a:r>
            <a:endParaRPr lang="en-US" sz="900" dirty="0"/>
          </a:p>
        </p:txBody>
      </p:sp>
      <p:sp>
        <p:nvSpPr>
          <p:cNvPr id="38" name="Text 36"/>
          <p:cNvSpPr/>
          <p:nvPr/>
        </p:nvSpPr>
        <p:spPr>
          <a:xfrm>
            <a:off x="411480" y="4334256"/>
            <a:ext cx="1371600" cy="274320"/>
          </a:xfrm>
          <a:prstGeom prst="rect">
            <a:avLst/>
          </a:prstGeom>
          <a:noFill/>
          <a:ln/>
        </p:spPr>
        <p:txBody>
          <a:bodyPr wrap="square" rtlCol="0" anchor="ctr"/>
          <a:lstStyle/>
          <a:p>
            <a:pPr indent="0" marL="0">
              <a:buNone/>
            </a:pPr>
            <a:r>
              <a:rPr lang="en-US" sz="900" b="1" dirty="0">
                <a:solidFill>
                  <a:srgbClr val="2D3436"/>
                </a:solidFill>
                <a:latin typeface="Calibri" pitchFamily="34" charset="0"/>
                <a:ea typeface="Calibri" pitchFamily="34" charset="-122"/>
                <a:cs typeface="Calibri" pitchFamily="34" charset="-120"/>
              </a:rPr>
              <a:t>N_basal_pct</a:t>
            </a:r>
            <a:endParaRPr lang="en-US" sz="900" dirty="0"/>
          </a:p>
        </p:txBody>
      </p:sp>
      <p:sp>
        <p:nvSpPr>
          <p:cNvPr id="39" name="Shape 37"/>
          <p:cNvSpPr/>
          <p:nvPr/>
        </p:nvSpPr>
        <p:spPr>
          <a:xfrm>
            <a:off x="1828800" y="4361688"/>
            <a:ext cx="368686" cy="219456"/>
          </a:xfrm>
          <a:prstGeom prst="rect">
            <a:avLst/>
          </a:prstGeom>
          <a:solidFill>
            <a:srgbClr val="2D6A4F"/>
          </a:solidFill>
          <a:ln w="12700">
            <a:solidFill>
              <a:srgbClr val="2D6A4F"/>
            </a:solidFill>
            <a:prstDash val="solid"/>
          </a:ln>
        </p:spPr>
      </p:sp>
      <p:sp>
        <p:nvSpPr>
          <p:cNvPr id="40" name="Text 38"/>
          <p:cNvSpPr/>
          <p:nvPr/>
        </p:nvSpPr>
        <p:spPr>
          <a:xfrm>
            <a:off x="2243206" y="4334256"/>
            <a:ext cx="548640" cy="274320"/>
          </a:xfrm>
          <a:prstGeom prst="rect">
            <a:avLst/>
          </a:prstGeom>
          <a:noFill/>
          <a:ln/>
        </p:spPr>
        <p:txBody>
          <a:bodyPr wrap="square" rtlCol="0" anchor="ctr"/>
          <a:lstStyle/>
          <a:p>
            <a:pPr indent="0" marL="0">
              <a:buNone/>
            </a:pPr>
            <a:r>
              <a:rPr lang="en-US" sz="900" b="1" dirty="0">
                <a:solidFill>
                  <a:srgbClr val="2D6A4F"/>
                </a:solidFill>
                <a:latin typeface="Calibri" pitchFamily="34" charset="0"/>
                <a:ea typeface="Calibri" pitchFamily="34" charset="-122"/>
                <a:cs typeface="Calibri" pitchFamily="34" charset="-120"/>
              </a:rPr>
              <a:t>12.6%</a:t>
            </a:r>
            <a:endParaRPr lang="en-US" sz="900" dirty="0"/>
          </a:p>
        </p:txBody>
      </p:sp>
      <p:sp>
        <p:nvSpPr>
          <p:cNvPr id="41" name="Shape 39"/>
          <p:cNvSpPr/>
          <p:nvPr/>
        </p:nvSpPr>
        <p:spPr>
          <a:xfrm>
            <a:off x="4754880" y="2423160"/>
            <a:ext cx="4114800" cy="2514600"/>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4754880" y="2423160"/>
            <a:ext cx="4114800" cy="347472"/>
          </a:xfrm>
          <a:prstGeom prst="rect">
            <a:avLst/>
          </a:prstGeom>
          <a:solidFill>
            <a:srgbClr val="D4A017"/>
          </a:solidFill>
          <a:ln w="12700">
            <a:solidFill>
              <a:srgbClr val="D4A017"/>
            </a:solidFill>
            <a:prstDash val="solid"/>
          </a:ln>
        </p:spPr>
      </p:sp>
      <p:sp>
        <p:nvSpPr>
          <p:cNvPr id="43" name="Text 41"/>
          <p:cNvSpPr/>
          <p:nvPr/>
        </p:nvSpPr>
        <p:spPr>
          <a:xfrm>
            <a:off x="4800600" y="2441448"/>
            <a:ext cx="3977640" cy="31089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ANOVA Statistical Results</a:t>
            </a:r>
            <a:endParaRPr lang="en-US" sz="1100" dirty="0"/>
          </a:p>
        </p:txBody>
      </p:sp>
      <p:sp>
        <p:nvSpPr>
          <p:cNvPr id="44" name="Shape 42"/>
          <p:cNvSpPr/>
          <p:nvPr/>
        </p:nvSpPr>
        <p:spPr>
          <a:xfrm>
            <a:off x="4754880" y="2807208"/>
            <a:ext cx="4114800" cy="292608"/>
          </a:xfrm>
          <a:prstGeom prst="rect">
            <a:avLst/>
          </a:prstGeom>
          <a:solidFill>
            <a:srgbClr val="1B4332"/>
          </a:solidFill>
          <a:ln w="12700">
            <a:solidFill>
              <a:srgbClr val="1B4332"/>
            </a:solidFill>
            <a:prstDash val="solid"/>
          </a:ln>
        </p:spPr>
      </p:sp>
      <p:sp>
        <p:nvSpPr>
          <p:cNvPr id="45" name="Text 43"/>
          <p:cNvSpPr/>
          <p:nvPr/>
        </p:nvSpPr>
        <p:spPr>
          <a:xfrm>
            <a:off x="4800600" y="2825496"/>
            <a:ext cx="146304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Parameter</a:t>
            </a:r>
            <a:endParaRPr lang="en-US" sz="800" dirty="0"/>
          </a:p>
        </p:txBody>
      </p:sp>
      <p:sp>
        <p:nvSpPr>
          <p:cNvPr id="46" name="Text 44"/>
          <p:cNvSpPr/>
          <p:nvPr/>
        </p:nvSpPr>
        <p:spPr>
          <a:xfrm>
            <a:off x="6263640" y="2825496"/>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Stage</a:t>
            </a:r>
            <a:endParaRPr lang="en-US" sz="800" dirty="0"/>
          </a:p>
        </p:txBody>
      </p:sp>
      <p:sp>
        <p:nvSpPr>
          <p:cNvPr id="47" name="Text 45"/>
          <p:cNvSpPr/>
          <p:nvPr/>
        </p:nvSpPr>
        <p:spPr>
          <a:xfrm>
            <a:off x="6903720" y="2825496"/>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F-Calc</a:t>
            </a:r>
            <a:endParaRPr lang="en-US" sz="800" dirty="0"/>
          </a:p>
        </p:txBody>
      </p:sp>
      <p:sp>
        <p:nvSpPr>
          <p:cNvPr id="48" name="Text 46"/>
          <p:cNvSpPr/>
          <p:nvPr/>
        </p:nvSpPr>
        <p:spPr>
          <a:xfrm>
            <a:off x="7543800" y="2825496"/>
            <a:ext cx="64008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Best</a:t>
            </a:r>
            <a:endParaRPr lang="en-US" sz="800" dirty="0"/>
          </a:p>
        </p:txBody>
      </p:sp>
      <p:sp>
        <p:nvSpPr>
          <p:cNvPr id="49" name="Shape 47"/>
          <p:cNvSpPr/>
          <p:nvPr/>
        </p:nvSpPr>
        <p:spPr>
          <a:xfrm>
            <a:off x="4754880" y="3127248"/>
            <a:ext cx="4114800" cy="347472"/>
          </a:xfrm>
          <a:prstGeom prst="rect">
            <a:avLst/>
          </a:prstGeom>
          <a:solidFill>
            <a:srgbClr val="F0F0F0"/>
          </a:solidFill>
          <a:ln w="12700">
            <a:solidFill>
              <a:srgbClr val="F0F0F0"/>
            </a:solidFill>
            <a:prstDash val="solid"/>
          </a:ln>
        </p:spPr>
      </p:sp>
      <p:sp>
        <p:nvSpPr>
          <p:cNvPr id="50" name="Text 48"/>
          <p:cNvSpPr/>
          <p:nvPr/>
        </p:nvSpPr>
        <p:spPr>
          <a:xfrm>
            <a:off x="4800600" y="3154680"/>
            <a:ext cx="146304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Plant Height</a:t>
            </a:r>
            <a:endParaRPr lang="en-US" sz="900" dirty="0"/>
          </a:p>
        </p:txBody>
      </p:sp>
      <p:sp>
        <p:nvSpPr>
          <p:cNvPr id="51" name="Text 49"/>
          <p:cNvSpPr/>
          <p:nvPr/>
        </p:nvSpPr>
        <p:spPr>
          <a:xfrm>
            <a:off x="6263640" y="3154680"/>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30 DAS</a:t>
            </a:r>
            <a:endParaRPr lang="en-US" sz="900" dirty="0"/>
          </a:p>
        </p:txBody>
      </p:sp>
      <p:sp>
        <p:nvSpPr>
          <p:cNvPr id="52" name="Text 50"/>
          <p:cNvSpPr/>
          <p:nvPr/>
        </p:nvSpPr>
        <p:spPr>
          <a:xfrm>
            <a:off x="6903720" y="3154680"/>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15.42</a:t>
            </a:r>
            <a:endParaRPr lang="en-US" sz="900" dirty="0"/>
          </a:p>
        </p:txBody>
      </p:sp>
      <p:sp>
        <p:nvSpPr>
          <p:cNvPr id="53" name="Text 51"/>
          <p:cNvSpPr/>
          <p:nvPr/>
        </p:nvSpPr>
        <p:spPr>
          <a:xfrm>
            <a:off x="7543800" y="3154680"/>
            <a:ext cx="640080" cy="292608"/>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T4</a:t>
            </a:r>
            <a:endParaRPr lang="en-US" sz="900" dirty="0"/>
          </a:p>
        </p:txBody>
      </p:sp>
      <p:sp>
        <p:nvSpPr>
          <p:cNvPr id="54" name="Text 52"/>
          <p:cNvSpPr/>
          <p:nvPr/>
        </p:nvSpPr>
        <p:spPr>
          <a:xfrm>
            <a:off x="4800600" y="3511296"/>
            <a:ext cx="146304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Plant Height</a:t>
            </a:r>
            <a:endParaRPr lang="en-US" sz="900" dirty="0"/>
          </a:p>
        </p:txBody>
      </p:sp>
      <p:sp>
        <p:nvSpPr>
          <p:cNvPr id="55" name="Text 53"/>
          <p:cNvSpPr/>
          <p:nvPr/>
        </p:nvSpPr>
        <p:spPr>
          <a:xfrm>
            <a:off x="6263640" y="3511296"/>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Harvest</a:t>
            </a:r>
            <a:endParaRPr lang="en-US" sz="900" dirty="0"/>
          </a:p>
        </p:txBody>
      </p:sp>
      <p:sp>
        <p:nvSpPr>
          <p:cNvPr id="56" name="Text 54"/>
          <p:cNvSpPr/>
          <p:nvPr/>
        </p:nvSpPr>
        <p:spPr>
          <a:xfrm>
            <a:off x="6903720" y="3511296"/>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18.96</a:t>
            </a:r>
            <a:endParaRPr lang="en-US" sz="900" dirty="0"/>
          </a:p>
        </p:txBody>
      </p:sp>
      <p:sp>
        <p:nvSpPr>
          <p:cNvPr id="57" name="Text 55"/>
          <p:cNvSpPr/>
          <p:nvPr/>
        </p:nvSpPr>
        <p:spPr>
          <a:xfrm>
            <a:off x="7543800" y="3511296"/>
            <a:ext cx="640080" cy="292608"/>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T4</a:t>
            </a:r>
            <a:endParaRPr lang="en-US" sz="900" dirty="0"/>
          </a:p>
        </p:txBody>
      </p:sp>
      <p:sp>
        <p:nvSpPr>
          <p:cNvPr id="58" name="Shape 56"/>
          <p:cNvSpPr/>
          <p:nvPr/>
        </p:nvSpPr>
        <p:spPr>
          <a:xfrm>
            <a:off x="4754880" y="3840480"/>
            <a:ext cx="4114800" cy="347472"/>
          </a:xfrm>
          <a:prstGeom prst="rect">
            <a:avLst/>
          </a:prstGeom>
          <a:solidFill>
            <a:srgbClr val="F0F0F0"/>
          </a:solidFill>
          <a:ln w="12700">
            <a:solidFill>
              <a:srgbClr val="F0F0F0"/>
            </a:solidFill>
            <a:prstDash val="solid"/>
          </a:ln>
        </p:spPr>
      </p:sp>
      <p:sp>
        <p:nvSpPr>
          <p:cNvPr id="59" name="Text 57"/>
          <p:cNvSpPr/>
          <p:nvPr/>
        </p:nvSpPr>
        <p:spPr>
          <a:xfrm>
            <a:off x="4800600" y="3867912"/>
            <a:ext cx="146304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Leaf Area</a:t>
            </a:r>
            <a:endParaRPr lang="en-US" sz="900" dirty="0"/>
          </a:p>
        </p:txBody>
      </p:sp>
      <p:sp>
        <p:nvSpPr>
          <p:cNvPr id="60" name="Text 58"/>
          <p:cNvSpPr/>
          <p:nvPr/>
        </p:nvSpPr>
        <p:spPr>
          <a:xfrm>
            <a:off x="6263640" y="3867912"/>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30 DAS</a:t>
            </a:r>
            <a:endParaRPr lang="en-US" sz="900" dirty="0"/>
          </a:p>
        </p:txBody>
      </p:sp>
      <p:sp>
        <p:nvSpPr>
          <p:cNvPr id="61" name="Text 59"/>
          <p:cNvSpPr/>
          <p:nvPr/>
        </p:nvSpPr>
        <p:spPr>
          <a:xfrm>
            <a:off x="6903720" y="3867912"/>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9.01</a:t>
            </a:r>
            <a:endParaRPr lang="en-US" sz="900" dirty="0"/>
          </a:p>
        </p:txBody>
      </p:sp>
      <p:sp>
        <p:nvSpPr>
          <p:cNvPr id="62" name="Text 60"/>
          <p:cNvSpPr/>
          <p:nvPr/>
        </p:nvSpPr>
        <p:spPr>
          <a:xfrm>
            <a:off x="7543800" y="3867912"/>
            <a:ext cx="640080" cy="292608"/>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T4</a:t>
            </a:r>
            <a:endParaRPr lang="en-US" sz="900" dirty="0"/>
          </a:p>
        </p:txBody>
      </p:sp>
      <p:sp>
        <p:nvSpPr>
          <p:cNvPr id="63" name="Text 61"/>
          <p:cNvSpPr/>
          <p:nvPr/>
        </p:nvSpPr>
        <p:spPr>
          <a:xfrm>
            <a:off x="4800600" y="4224528"/>
            <a:ext cx="146304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Leaf Area</a:t>
            </a:r>
            <a:endParaRPr lang="en-US" sz="900" dirty="0"/>
          </a:p>
        </p:txBody>
      </p:sp>
      <p:sp>
        <p:nvSpPr>
          <p:cNvPr id="64" name="Text 62"/>
          <p:cNvSpPr/>
          <p:nvPr/>
        </p:nvSpPr>
        <p:spPr>
          <a:xfrm>
            <a:off x="6263640" y="4224528"/>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Harvest</a:t>
            </a:r>
            <a:endParaRPr lang="en-US" sz="900" dirty="0"/>
          </a:p>
        </p:txBody>
      </p:sp>
      <p:sp>
        <p:nvSpPr>
          <p:cNvPr id="65" name="Text 63"/>
          <p:cNvSpPr/>
          <p:nvPr/>
        </p:nvSpPr>
        <p:spPr>
          <a:xfrm>
            <a:off x="6903720" y="4224528"/>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36.45</a:t>
            </a:r>
            <a:endParaRPr lang="en-US" sz="900" dirty="0"/>
          </a:p>
        </p:txBody>
      </p:sp>
      <p:sp>
        <p:nvSpPr>
          <p:cNvPr id="66" name="Text 64"/>
          <p:cNvSpPr/>
          <p:nvPr/>
        </p:nvSpPr>
        <p:spPr>
          <a:xfrm>
            <a:off x="7543800" y="4224528"/>
            <a:ext cx="640080" cy="292608"/>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T4</a:t>
            </a:r>
            <a:endParaRPr lang="en-US" sz="900" dirty="0"/>
          </a:p>
        </p:txBody>
      </p:sp>
      <p:sp>
        <p:nvSpPr>
          <p:cNvPr id="67" name="Shape 65"/>
          <p:cNvSpPr/>
          <p:nvPr/>
        </p:nvSpPr>
        <p:spPr>
          <a:xfrm>
            <a:off x="4754880" y="4553712"/>
            <a:ext cx="4114800" cy="347472"/>
          </a:xfrm>
          <a:prstGeom prst="rect">
            <a:avLst/>
          </a:prstGeom>
          <a:solidFill>
            <a:srgbClr val="F0F0F0"/>
          </a:solidFill>
          <a:ln w="12700">
            <a:solidFill>
              <a:srgbClr val="F0F0F0"/>
            </a:solidFill>
            <a:prstDash val="solid"/>
          </a:ln>
        </p:spPr>
      </p:sp>
      <p:sp>
        <p:nvSpPr>
          <p:cNvPr id="68" name="Text 66"/>
          <p:cNvSpPr/>
          <p:nvPr/>
        </p:nvSpPr>
        <p:spPr>
          <a:xfrm>
            <a:off x="4800600" y="4581144"/>
            <a:ext cx="146304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Ground Cov.</a:t>
            </a:r>
            <a:endParaRPr lang="en-US" sz="900" dirty="0"/>
          </a:p>
        </p:txBody>
      </p:sp>
      <p:sp>
        <p:nvSpPr>
          <p:cNvPr id="69" name="Text 67"/>
          <p:cNvSpPr/>
          <p:nvPr/>
        </p:nvSpPr>
        <p:spPr>
          <a:xfrm>
            <a:off x="6263640" y="4581144"/>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Harvest</a:t>
            </a:r>
            <a:endParaRPr lang="en-US" sz="900" dirty="0"/>
          </a:p>
        </p:txBody>
      </p:sp>
      <p:sp>
        <p:nvSpPr>
          <p:cNvPr id="70" name="Text 68"/>
          <p:cNvSpPr/>
          <p:nvPr/>
        </p:nvSpPr>
        <p:spPr>
          <a:xfrm>
            <a:off x="6903720" y="4581144"/>
            <a:ext cx="640080" cy="292608"/>
          </a:xfrm>
          <a:prstGeom prst="rect">
            <a:avLst/>
          </a:prstGeom>
          <a:noFill/>
          <a:ln/>
        </p:spPr>
        <p:txBody>
          <a:bodyPr wrap="square" rtlCol="0" anchor="ctr"/>
          <a:lstStyle/>
          <a:p>
            <a:pPr algn="ctr" indent="0" marL="0">
              <a:buNone/>
            </a:pPr>
            <a:r>
              <a:rPr lang="en-US" sz="900" dirty="0">
                <a:solidFill>
                  <a:srgbClr val="2D3436"/>
                </a:solidFill>
                <a:latin typeface="Calibri" pitchFamily="34" charset="0"/>
                <a:ea typeface="Calibri" pitchFamily="34" charset="-122"/>
                <a:cs typeface="Calibri" pitchFamily="34" charset="-120"/>
              </a:rPr>
              <a:t>8.14</a:t>
            </a:r>
            <a:endParaRPr lang="en-US" sz="900" dirty="0"/>
          </a:p>
        </p:txBody>
      </p:sp>
      <p:sp>
        <p:nvSpPr>
          <p:cNvPr id="71" name="Text 69"/>
          <p:cNvSpPr/>
          <p:nvPr/>
        </p:nvSpPr>
        <p:spPr>
          <a:xfrm>
            <a:off x="7543800" y="4581144"/>
            <a:ext cx="640080" cy="292608"/>
          </a:xfrm>
          <a:prstGeom prst="rect">
            <a:avLst/>
          </a:prstGeom>
          <a:noFill/>
          <a:ln/>
        </p:spPr>
        <p:txBody>
          <a:bodyPr wrap="square" rtlCol="0" anchor="ctr"/>
          <a:lstStyle/>
          <a:p>
            <a:pPr algn="ctr" indent="0" marL="0">
              <a:buNone/>
            </a:pPr>
            <a:r>
              <a:rPr lang="en-US" sz="900" b="1" dirty="0">
                <a:solidFill>
                  <a:srgbClr val="2D6A4F"/>
                </a:solidFill>
                <a:latin typeface="Calibri" pitchFamily="34" charset="0"/>
                <a:ea typeface="Calibri" pitchFamily="34" charset="-122"/>
                <a:cs typeface="Calibri" pitchFamily="34" charset="-120"/>
              </a:rPr>
              <a:t>T4</a:t>
            </a:r>
            <a:endParaRPr lang="en-US" sz="900" dirty="0"/>
          </a:p>
        </p:txBody>
      </p:sp>
      <p:sp>
        <p:nvSpPr>
          <p:cNvPr id="72" name="Shape 70"/>
          <p:cNvSpPr/>
          <p:nvPr/>
        </p:nvSpPr>
        <p:spPr>
          <a:xfrm>
            <a:off x="274320" y="4956048"/>
            <a:ext cx="8595360" cy="320040"/>
          </a:xfrm>
          <a:prstGeom prst="rect">
            <a:avLst/>
          </a:prstGeom>
          <a:solidFill>
            <a:srgbClr val="1B4332"/>
          </a:solidFill>
          <a:ln w="12700">
            <a:solidFill>
              <a:srgbClr val="1B4332"/>
            </a:solidFill>
            <a:prstDash val="solid"/>
          </a:ln>
        </p:spPr>
      </p:sp>
      <p:sp>
        <p:nvSpPr>
          <p:cNvPr id="73" name="Text 71"/>
          <p:cNvSpPr/>
          <p:nvPr/>
        </p:nvSpPr>
        <p:spPr>
          <a:xfrm>
            <a:off x="365760" y="4965192"/>
            <a:ext cx="8412480" cy="301752"/>
          </a:xfrm>
          <a:prstGeom prst="rect">
            <a:avLst/>
          </a:prstGeom>
          <a:noFill/>
          <a:ln/>
        </p:spPr>
        <p:txBody>
          <a:bodyPr wrap="square"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  T4 (0% Basal | 50% @ 30 DAS | 50% @ 45 DAS) — AI recommendation validated by both ML model and ANOVA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06</a:t>
            </a:r>
            <a:endParaRPr lang="en-US" sz="3600" dirty="0"/>
          </a:p>
        </p:txBody>
      </p:sp>
      <p:sp>
        <p:nvSpPr>
          <p:cNvPr id="5" name="Text 3"/>
          <p:cNvSpPr/>
          <p:nvPr/>
        </p:nvSpPr>
        <p:spPr>
          <a:xfrm>
            <a:off x="1097280" y="164592"/>
            <a:ext cx="77724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KEY FINDINGS &amp; CONCLUSION</a:t>
            </a:r>
            <a:endParaRPr lang="en-US" sz="2600" dirty="0"/>
          </a:p>
        </p:txBody>
      </p:sp>
      <p:sp>
        <p:nvSpPr>
          <p:cNvPr id="6" name="Shape 4"/>
          <p:cNvSpPr/>
          <p:nvPr/>
        </p:nvSpPr>
        <p:spPr>
          <a:xfrm>
            <a:off x="274320" y="1005840"/>
            <a:ext cx="4114800" cy="96012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005840"/>
            <a:ext cx="731520" cy="960120"/>
          </a:xfrm>
          <a:prstGeom prst="rect">
            <a:avLst/>
          </a:prstGeom>
          <a:solidFill>
            <a:srgbClr val="2D6A4F"/>
          </a:solidFill>
          <a:ln w="12700">
            <a:solidFill>
              <a:srgbClr val="2D6A4F"/>
            </a:solidFill>
            <a:prstDash val="solid"/>
          </a:ln>
        </p:spPr>
      </p:sp>
      <p:sp>
        <p:nvSpPr>
          <p:cNvPr id="8" name="Text 6"/>
          <p:cNvSpPr/>
          <p:nvPr/>
        </p:nvSpPr>
        <p:spPr>
          <a:xfrm>
            <a:off x="274320" y="1005840"/>
            <a:ext cx="731520" cy="9601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1097280" y="1078992"/>
            <a:ext cx="3200400" cy="274320"/>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Superior Growth with T4</a:t>
            </a:r>
            <a:endParaRPr lang="en-US" sz="1100" dirty="0"/>
          </a:p>
        </p:txBody>
      </p:sp>
      <p:sp>
        <p:nvSpPr>
          <p:cNvPr id="10" name="Text 8"/>
          <p:cNvSpPr/>
          <p:nvPr/>
        </p:nvSpPr>
        <p:spPr>
          <a:xfrm>
            <a:off x="1097280" y="1389888"/>
            <a:ext cx="3200400" cy="502920"/>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T4 (delayed split) achieved highest plant height (42.47 cm), leaf area (28.5 cm²), and ground coverage (160.5 cm²) at harvest.</a:t>
            </a:r>
            <a:endParaRPr lang="en-US" sz="950" dirty="0"/>
          </a:p>
        </p:txBody>
      </p:sp>
      <p:sp>
        <p:nvSpPr>
          <p:cNvPr id="11" name="Shape 9"/>
          <p:cNvSpPr/>
          <p:nvPr/>
        </p:nvSpPr>
        <p:spPr>
          <a:xfrm>
            <a:off x="274320" y="2103120"/>
            <a:ext cx="4114800" cy="96012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74320" y="2103120"/>
            <a:ext cx="731520" cy="960120"/>
          </a:xfrm>
          <a:prstGeom prst="rect">
            <a:avLst/>
          </a:prstGeom>
          <a:solidFill>
            <a:srgbClr val="2D6A4F"/>
          </a:solidFill>
          <a:ln w="12700">
            <a:solidFill>
              <a:srgbClr val="2D6A4F"/>
            </a:solidFill>
            <a:prstDash val="solid"/>
          </a:ln>
        </p:spPr>
      </p:sp>
      <p:sp>
        <p:nvSpPr>
          <p:cNvPr id="13" name="Text 11"/>
          <p:cNvSpPr/>
          <p:nvPr/>
        </p:nvSpPr>
        <p:spPr>
          <a:xfrm>
            <a:off x="274320" y="2103120"/>
            <a:ext cx="731520" cy="9601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1097280" y="2176272"/>
            <a:ext cx="3200400" cy="274320"/>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High ML Accuracy</a:t>
            </a:r>
            <a:endParaRPr lang="en-US" sz="1100" dirty="0"/>
          </a:p>
        </p:txBody>
      </p:sp>
      <p:sp>
        <p:nvSpPr>
          <p:cNvPr id="15" name="Text 13"/>
          <p:cNvSpPr/>
          <p:nvPr/>
        </p:nvSpPr>
        <p:spPr>
          <a:xfrm>
            <a:off x="1097280" y="2487168"/>
            <a:ext cx="3200400" cy="502920"/>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Random Forest model achieved R² = 0.9743, explaining 97.43% of variance in plant height — confirming ML reliability for agronomy.</a:t>
            </a:r>
            <a:endParaRPr lang="en-US" sz="950" dirty="0"/>
          </a:p>
        </p:txBody>
      </p:sp>
      <p:sp>
        <p:nvSpPr>
          <p:cNvPr id="16" name="Shape 14"/>
          <p:cNvSpPr/>
          <p:nvPr/>
        </p:nvSpPr>
        <p:spPr>
          <a:xfrm>
            <a:off x="274320" y="3200400"/>
            <a:ext cx="4114800" cy="96012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274320" y="3200400"/>
            <a:ext cx="731520" cy="960120"/>
          </a:xfrm>
          <a:prstGeom prst="rect">
            <a:avLst/>
          </a:prstGeom>
          <a:solidFill>
            <a:srgbClr val="2D6A4F"/>
          </a:solidFill>
          <a:ln w="12700">
            <a:solidFill>
              <a:srgbClr val="2D6A4F"/>
            </a:solidFill>
            <a:prstDash val="solid"/>
          </a:ln>
        </p:spPr>
      </p:sp>
      <p:sp>
        <p:nvSpPr>
          <p:cNvPr id="18" name="Text 16"/>
          <p:cNvSpPr/>
          <p:nvPr/>
        </p:nvSpPr>
        <p:spPr>
          <a:xfrm>
            <a:off x="274320" y="3200400"/>
            <a:ext cx="731520" cy="9601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1097280" y="3273552"/>
            <a:ext cx="3200400" cy="274320"/>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Split Index as Top Feature</a:t>
            </a:r>
            <a:endParaRPr lang="en-US" sz="1100" dirty="0"/>
          </a:p>
        </p:txBody>
      </p:sp>
      <p:sp>
        <p:nvSpPr>
          <p:cNvPr id="20" name="Text 18"/>
          <p:cNvSpPr/>
          <p:nvPr/>
        </p:nvSpPr>
        <p:spPr>
          <a:xfrm>
            <a:off x="1097280" y="3584448"/>
            <a:ext cx="3200400" cy="502920"/>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split_index (N applied post-sowing) was the most important feature (0.42 importance), validating delayed application theory.</a:t>
            </a:r>
            <a:endParaRPr lang="en-US" sz="950" dirty="0"/>
          </a:p>
        </p:txBody>
      </p:sp>
      <p:sp>
        <p:nvSpPr>
          <p:cNvPr id="21" name="Shape 19"/>
          <p:cNvSpPr/>
          <p:nvPr/>
        </p:nvSpPr>
        <p:spPr>
          <a:xfrm>
            <a:off x="4754880" y="1005840"/>
            <a:ext cx="4114800" cy="96012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4754880" y="1005840"/>
            <a:ext cx="731520" cy="960120"/>
          </a:xfrm>
          <a:prstGeom prst="rect">
            <a:avLst/>
          </a:prstGeom>
          <a:solidFill>
            <a:srgbClr val="2D6A4F"/>
          </a:solidFill>
          <a:ln w="12700">
            <a:solidFill>
              <a:srgbClr val="2D6A4F"/>
            </a:solidFill>
            <a:prstDash val="solid"/>
          </a:ln>
        </p:spPr>
      </p:sp>
      <p:sp>
        <p:nvSpPr>
          <p:cNvPr id="23" name="Text 21"/>
          <p:cNvSpPr/>
          <p:nvPr/>
        </p:nvSpPr>
        <p:spPr>
          <a:xfrm>
            <a:off x="4754880" y="1005840"/>
            <a:ext cx="731520" cy="9601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5577840" y="1078992"/>
            <a:ext cx="3200400" cy="274320"/>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Significant Yield Gains</a:t>
            </a:r>
            <a:endParaRPr lang="en-US" sz="1100" dirty="0"/>
          </a:p>
        </p:txBody>
      </p:sp>
      <p:sp>
        <p:nvSpPr>
          <p:cNvPr id="25" name="Text 23"/>
          <p:cNvSpPr/>
          <p:nvPr/>
        </p:nvSpPr>
        <p:spPr>
          <a:xfrm>
            <a:off x="5577840" y="1389888"/>
            <a:ext cx="3200400" cy="502920"/>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T4 improved leaf area by 23.9% and ground coverage by 10.3% compared to conventional 100% basal application (T2).</a:t>
            </a:r>
            <a:endParaRPr lang="en-US" sz="950" dirty="0"/>
          </a:p>
        </p:txBody>
      </p:sp>
      <p:sp>
        <p:nvSpPr>
          <p:cNvPr id="26" name="Shape 24"/>
          <p:cNvSpPr/>
          <p:nvPr/>
        </p:nvSpPr>
        <p:spPr>
          <a:xfrm>
            <a:off x="4754880" y="2103120"/>
            <a:ext cx="4114800" cy="960120"/>
          </a:xfrm>
          <a:prstGeom prst="rect">
            <a:avLst/>
          </a:prstGeom>
          <a:solidFill>
            <a:srgbClr val="FFFFFF"/>
          </a:solidFill>
          <a:ln w="12700">
            <a:solidFill>
              <a:srgbClr val="95D5B2"/>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4754880" y="2103120"/>
            <a:ext cx="731520" cy="960120"/>
          </a:xfrm>
          <a:prstGeom prst="rect">
            <a:avLst/>
          </a:prstGeom>
          <a:solidFill>
            <a:srgbClr val="2D6A4F"/>
          </a:solidFill>
          <a:ln w="12700">
            <a:solidFill>
              <a:srgbClr val="2D6A4F"/>
            </a:solidFill>
            <a:prstDash val="solid"/>
          </a:ln>
        </p:spPr>
      </p:sp>
      <p:sp>
        <p:nvSpPr>
          <p:cNvPr id="28" name="Text 26"/>
          <p:cNvSpPr/>
          <p:nvPr/>
        </p:nvSpPr>
        <p:spPr>
          <a:xfrm>
            <a:off x="4754880" y="2103120"/>
            <a:ext cx="731520" cy="9601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5577840" y="2176272"/>
            <a:ext cx="3200400" cy="274320"/>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ANOVA Validated</a:t>
            </a:r>
            <a:endParaRPr lang="en-US" sz="1100" dirty="0"/>
          </a:p>
        </p:txBody>
      </p:sp>
      <p:sp>
        <p:nvSpPr>
          <p:cNvPr id="30" name="Text 28"/>
          <p:cNvSpPr/>
          <p:nvPr/>
        </p:nvSpPr>
        <p:spPr>
          <a:xfrm>
            <a:off x="5577840" y="2487168"/>
            <a:ext cx="3200400" cy="502920"/>
          </a:xfrm>
          <a:prstGeom prst="rect">
            <a:avLst/>
          </a:prstGeom>
          <a:noFill/>
          <a:ln/>
        </p:spPr>
        <p:txBody>
          <a:bodyPr wrap="square" rtlCol="0" anchor="ctr"/>
          <a:lstStyle/>
          <a:p>
            <a:pPr indent="0" marL="0">
              <a:buNone/>
            </a:pPr>
            <a:r>
              <a:rPr lang="en-US" sz="950" dirty="0">
                <a:solidFill>
                  <a:srgbClr val="2D3436"/>
                </a:solidFill>
                <a:latin typeface="Calibri" pitchFamily="34" charset="0"/>
                <a:ea typeface="Calibri" pitchFamily="34" charset="-122"/>
                <a:cs typeface="Calibri" pitchFamily="34" charset="-120"/>
              </a:rPr>
              <a:t>All treatment differences were statistically significant (F-calculated &gt; F-table) for every measured parameter.</a:t>
            </a:r>
            <a:endParaRPr lang="en-US" sz="950" dirty="0"/>
          </a:p>
        </p:txBody>
      </p:sp>
      <p:sp>
        <p:nvSpPr>
          <p:cNvPr id="31" name="Shape 29"/>
          <p:cNvSpPr/>
          <p:nvPr/>
        </p:nvSpPr>
        <p:spPr>
          <a:xfrm>
            <a:off x="274320" y="4389120"/>
            <a:ext cx="8595360" cy="658368"/>
          </a:xfrm>
          <a:prstGeom prst="rect">
            <a:avLst/>
          </a:prstGeom>
          <a:solidFill>
            <a:srgbClr val="1B4332"/>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32" name="Text 30"/>
          <p:cNvSpPr/>
          <p:nvPr/>
        </p:nvSpPr>
        <p:spPr>
          <a:xfrm>
            <a:off x="365760" y="4407408"/>
            <a:ext cx="1371600" cy="274320"/>
          </a:xfrm>
          <a:prstGeom prst="rect">
            <a:avLst/>
          </a:prstGeom>
          <a:noFill/>
          <a:ln/>
        </p:spPr>
        <p:txBody>
          <a:bodyPr wrap="square" rtlCol="0" anchor="ctr"/>
          <a:lstStyle/>
          <a:p>
            <a:pPr indent="0" marL="0">
              <a:buNone/>
            </a:pPr>
            <a:r>
              <a:rPr lang="en-US" sz="900" b="1" spc="150" kern="0" dirty="0">
                <a:solidFill>
                  <a:srgbClr val="D4A017"/>
                </a:solidFill>
                <a:latin typeface="Calibri" pitchFamily="34" charset="0"/>
                <a:ea typeface="Calibri" pitchFamily="34" charset="-122"/>
                <a:cs typeface="Calibri" pitchFamily="34" charset="-120"/>
              </a:rPr>
              <a:t>CONCLUSION</a:t>
            </a:r>
            <a:endParaRPr lang="en-US" sz="900" dirty="0"/>
          </a:p>
        </p:txBody>
      </p:sp>
      <p:sp>
        <p:nvSpPr>
          <p:cNvPr id="33" name="Text 31"/>
          <p:cNvSpPr/>
          <p:nvPr/>
        </p:nvSpPr>
        <p:spPr>
          <a:xfrm>
            <a:off x="365760" y="4663440"/>
            <a:ext cx="8321040" cy="34747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AIML techniques can effectively learn from agronomic field data to generate accurate, context-specific nitrogen management recommendations — outperforming conventional rule-based approaches while reducing leaching risk.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3"/>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4332"/>
          </a:solidFill>
          <a:ln w="12700">
            <a:solidFill>
              <a:srgbClr val="1B4332"/>
            </a:solidFill>
            <a:prstDash val="solid"/>
          </a:ln>
        </p:spPr>
      </p:sp>
      <p:sp>
        <p:nvSpPr>
          <p:cNvPr id="3" name="Shape 1"/>
          <p:cNvSpPr/>
          <p:nvPr/>
        </p:nvSpPr>
        <p:spPr>
          <a:xfrm>
            <a:off x="0" y="822960"/>
            <a:ext cx="9144000" cy="54864"/>
          </a:xfrm>
          <a:prstGeom prst="rect">
            <a:avLst/>
          </a:prstGeom>
          <a:solidFill>
            <a:srgbClr val="D4A017"/>
          </a:solidFill>
          <a:ln w="12700">
            <a:solidFill>
              <a:srgbClr val="D4A017"/>
            </a:solidFill>
            <a:prstDash val="solid"/>
          </a:ln>
        </p:spPr>
      </p:sp>
      <p:sp>
        <p:nvSpPr>
          <p:cNvPr id="4" name="Text 2"/>
          <p:cNvSpPr/>
          <p:nvPr/>
        </p:nvSpPr>
        <p:spPr>
          <a:xfrm>
            <a:off x="274320" y="45720"/>
            <a:ext cx="822960" cy="731520"/>
          </a:xfrm>
          <a:prstGeom prst="rect">
            <a:avLst/>
          </a:prstGeom>
          <a:noFill/>
          <a:ln/>
        </p:spPr>
        <p:txBody>
          <a:bodyPr wrap="square" rtlCol="0" anchor="ctr"/>
          <a:lstStyle/>
          <a:p>
            <a:pPr indent="0" marL="0">
              <a:buNone/>
            </a:pPr>
            <a:r>
              <a:rPr lang="en-US" sz="3600" b="1" dirty="0">
                <a:solidFill>
                  <a:srgbClr val="52B788"/>
                </a:solidFill>
                <a:latin typeface="Georgia" pitchFamily="34" charset="0"/>
                <a:ea typeface="Georgia" pitchFamily="34" charset="-122"/>
                <a:cs typeface="Georgia" pitchFamily="34" charset="-120"/>
              </a:rPr>
              <a:t>07</a:t>
            </a:r>
            <a:endParaRPr lang="en-US" sz="3600" dirty="0"/>
          </a:p>
        </p:txBody>
      </p:sp>
      <p:sp>
        <p:nvSpPr>
          <p:cNvPr id="5" name="Text 3"/>
          <p:cNvSpPr/>
          <p:nvPr/>
        </p:nvSpPr>
        <p:spPr>
          <a:xfrm>
            <a:off x="1097280" y="164592"/>
            <a:ext cx="7772400" cy="5029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FUTURE SCOPE</a:t>
            </a:r>
            <a:endParaRPr lang="en-US" sz="2800" dirty="0"/>
          </a:p>
        </p:txBody>
      </p:sp>
      <p:sp>
        <p:nvSpPr>
          <p:cNvPr id="6" name="Shape 4"/>
          <p:cNvSpPr/>
          <p:nvPr/>
        </p:nvSpPr>
        <p:spPr>
          <a:xfrm>
            <a:off x="274320" y="1005840"/>
            <a:ext cx="4114800" cy="3977640"/>
          </a:xfrm>
          <a:prstGeom prst="rect">
            <a:avLst/>
          </a:prstGeom>
          <a:solidFill>
            <a:srgbClr val="FFFFFF"/>
          </a:solidFill>
          <a:ln w="12700">
            <a:solidFill>
              <a:srgbClr val="2D6A4F"/>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005840"/>
            <a:ext cx="4114800" cy="411480"/>
          </a:xfrm>
          <a:prstGeom prst="rect">
            <a:avLst/>
          </a:prstGeom>
          <a:solidFill>
            <a:srgbClr val="2D6A4F"/>
          </a:solidFill>
          <a:ln w="12700">
            <a:solidFill>
              <a:srgbClr val="2D6A4F"/>
            </a:solidFill>
            <a:prstDash val="solid"/>
          </a:ln>
        </p:spPr>
      </p:sp>
      <p:sp>
        <p:nvSpPr>
          <p:cNvPr id="8" name="Text 6"/>
          <p:cNvSpPr/>
          <p:nvPr/>
        </p:nvSpPr>
        <p:spPr>
          <a:xfrm>
            <a:off x="365760" y="1024128"/>
            <a:ext cx="3931920" cy="37490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AI Enhancements</a:t>
            </a:r>
            <a:endParaRPr lang="en-US" sz="1300" dirty="0"/>
          </a:p>
        </p:txBody>
      </p:sp>
      <p:sp>
        <p:nvSpPr>
          <p:cNvPr id="9" name="Shape 7"/>
          <p:cNvSpPr/>
          <p:nvPr/>
        </p:nvSpPr>
        <p:spPr>
          <a:xfrm>
            <a:off x="411480" y="1581912"/>
            <a:ext cx="256032" cy="256032"/>
          </a:xfrm>
          <a:prstGeom prst="ellipse">
            <a:avLst/>
          </a:prstGeom>
          <a:solidFill>
            <a:srgbClr val="2D6A4F"/>
          </a:solidFill>
          <a:ln w="12700">
            <a:solidFill>
              <a:srgbClr val="2D6A4F"/>
            </a:solidFill>
            <a:prstDash val="solid"/>
          </a:ln>
        </p:spPr>
      </p:sp>
      <p:sp>
        <p:nvSpPr>
          <p:cNvPr id="10" name="Text 8"/>
          <p:cNvSpPr/>
          <p:nvPr/>
        </p:nvSpPr>
        <p:spPr>
          <a:xfrm>
            <a:off x="411480" y="158191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777240" y="150876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Deep Reinforcement Learning for adaptive, real-time fertilization</a:t>
            </a:r>
            <a:endParaRPr lang="en-US" sz="1000" dirty="0"/>
          </a:p>
        </p:txBody>
      </p:sp>
      <p:sp>
        <p:nvSpPr>
          <p:cNvPr id="12" name="Shape 10"/>
          <p:cNvSpPr/>
          <p:nvPr/>
        </p:nvSpPr>
        <p:spPr>
          <a:xfrm>
            <a:off x="411480" y="2404872"/>
            <a:ext cx="256032" cy="256032"/>
          </a:xfrm>
          <a:prstGeom prst="ellipse">
            <a:avLst/>
          </a:prstGeom>
          <a:solidFill>
            <a:srgbClr val="2D6A4F"/>
          </a:solidFill>
          <a:ln w="12700">
            <a:solidFill>
              <a:srgbClr val="2D6A4F"/>
            </a:solidFill>
            <a:prstDash val="solid"/>
          </a:ln>
        </p:spPr>
      </p:sp>
      <p:sp>
        <p:nvSpPr>
          <p:cNvPr id="13" name="Text 11"/>
          <p:cNvSpPr/>
          <p:nvPr/>
        </p:nvSpPr>
        <p:spPr>
          <a:xfrm>
            <a:off x="411480" y="240487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777240" y="233172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Vision Transformers on multi-spectral satellite imagery for leaf-level diagnostics</a:t>
            </a:r>
            <a:endParaRPr lang="en-US" sz="1000" dirty="0"/>
          </a:p>
        </p:txBody>
      </p:sp>
      <p:sp>
        <p:nvSpPr>
          <p:cNvPr id="15" name="Shape 13"/>
          <p:cNvSpPr/>
          <p:nvPr/>
        </p:nvSpPr>
        <p:spPr>
          <a:xfrm>
            <a:off x="411480" y="3227832"/>
            <a:ext cx="256032" cy="256032"/>
          </a:xfrm>
          <a:prstGeom prst="ellipse">
            <a:avLst/>
          </a:prstGeom>
          <a:solidFill>
            <a:srgbClr val="2D6A4F"/>
          </a:solidFill>
          <a:ln w="12700">
            <a:solidFill>
              <a:srgbClr val="2D6A4F"/>
            </a:solidFill>
            <a:prstDash val="solid"/>
          </a:ln>
        </p:spPr>
      </p:sp>
      <p:sp>
        <p:nvSpPr>
          <p:cNvPr id="16" name="Text 14"/>
          <p:cNvSpPr/>
          <p:nvPr/>
        </p:nvSpPr>
        <p:spPr>
          <a:xfrm>
            <a:off x="411480" y="322783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777240" y="315468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Federated Learning for privacy-preserving cross-region model training</a:t>
            </a:r>
            <a:endParaRPr lang="en-US" sz="1000" dirty="0"/>
          </a:p>
        </p:txBody>
      </p:sp>
      <p:sp>
        <p:nvSpPr>
          <p:cNvPr id="18" name="Shape 16"/>
          <p:cNvSpPr/>
          <p:nvPr/>
        </p:nvSpPr>
        <p:spPr>
          <a:xfrm>
            <a:off x="411480" y="4050792"/>
            <a:ext cx="256032" cy="256032"/>
          </a:xfrm>
          <a:prstGeom prst="ellipse">
            <a:avLst/>
          </a:prstGeom>
          <a:solidFill>
            <a:srgbClr val="2D6A4F"/>
          </a:solidFill>
          <a:ln w="12700">
            <a:solidFill>
              <a:srgbClr val="2D6A4F"/>
            </a:solidFill>
            <a:prstDash val="solid"/>
          </a:ln>
        </p:spPr>
      </p:sp>
      <p:sp>
        <p:nvSpPr>
          <p:cNvPr id="19" name="Text 17"/>
          <p:cNvSpPr/>
          <p:nvPr/>
        </p:nvSpPr>
        <p:spPr>
          <a:xfrm>
            <a:off x="411480" y="405079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777240" y="397764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Explainable AI (SHAP &amp; LIME) for farmer-interpretable recommendations</a:t>
            </a:r>
            <a:endParaRPr lang="en-US" sz="1000" dirty="0"/>
          </a:p>
        </p:txBody>
      </p:sp>
      <p:sp>
        <p:nvSpPr>
          <p:cNvPr id="21" name="Shape 19"/>
          <p:cNvSpPr/>
          <p:nvPr/>
        </p:nvSpPr>
        <p:spPr>
          <a:xfrm>
            <a:off x="4754880" y="1005840"/>
            <a:ext cx="4114800" cy="3977640"/>
          </a:xfrm>
          <a:prstGeom prst="rect">
            <a:avLst/>
          </a:prstGeom>
          <a:solidFill>
            <a:srgbClr val="FFFFFF"/>
          </a:solidFill>
          <a:ln w="12700">
            <a:solidFill>
              <a:srgbClr val="D4A017"/>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4754880" y="1005840"/>
            <a:ext cx="4114800" cy="411480"/>
          </a:xfrm>
          <a:prstGeom prst="rect">
            <a:avLst/>
          </a:prstGeom>
          <a:solidFill>
            <a:srgbClr val="D4A017"/>
          </a:solidFill>
          <a:ln w="12700">
            <a:solidFill>
              <a:srgbClr val="D4A017"/>
            </a:solidFill>
            <a:prstDash val="solid"/>
          </a:ln>
        </p:spPr>
      </p:sp>
      <p:sp>
        <p:nvSpPr>
          <p:cNvPr id="23" name="Text 21"/>
          <p:cNvSpPr/>
          <p:nvPr/>
        </p:nvSpPr>
        <p:spPr>
          <a:xfrm>
            <a:off x="4846320" y="1024128"/>
            <a:ext cx="3931920" cy="37490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IoT Integration</a:t>
            </a:r>
            <a:endParaRPr lang="en-US" sz="1300" dirty="0"/>
          </a:p>
        </p:txBody>
      </p:sp>
      <p:sp>
        <p:nvSpPr>
          <p:cNvPr id="24" name="Shape 22"/>
          <p:cNvSpPr/>
          <p:nvPr/>
        </p:nvSpPr>
        <p:spPr>
          <a:xfrm>
            <a:off x="4892040" y="1581912"/>
            <a:ext cx="256032" cy="256032"/>
          </a:xfrm>
          <a:prstGeom prst="ellipse">
            <a:avLst/>
          </a:prstGeom>
          <a:solidFill>
            <a:srgbClr val="D4A017"/>
          </a:solidFill>
          <a:ln w="12700">
            <a:solidFill>
              <a:srgbClr val="D4A017"/>
            </a:solidFill>
            <a:prstDash val="solid"/>
          </a:ln>
        </p:spPr>
      </p:sp>
      <p:sp>
        <p:nvSpPr>
          <p:cNvPr id="25" name="Text 23"/>
          <p:cNvSpPr/>
          <p:nvPr/>
        </p:nvSpPr>
        <p:spPr>
          <a:xfrm>
            <a:off x="4892040" y="158191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6" name="Text 24"/>
          <p:cNvSpPr/>
          <p:nvPr/>
        </p:nvSpPr>
        <p:spPr>
          <a:xfrm>
            <a:off x="5257800" y="150876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LoRaWAN Wireless Sensor Networks with Edge Computing (Raspberry Pi)</a:t>
            </a:r>
            <a:endParaRPr lang="en-US" sz="1000" dirty="0"/>
          </a:p>
        </p:txBody>
      </p:sp>
      <p:sp>
        <p:nvSpPr>
          <p:cNvPr id="27" name="Shape 25"/>
          <p:cNvSpPr/>
          <p:nvPr/>
        </p:nvSpPr>
        <p:spPr>
          <a:xfrm>
            <a:off x="4892040" y="2404872"/>
            <a:ext cx="256032" cy="256032"/>
          </a:xfrm>
          <a:prstGeom prst="ellipse">
            <a:avLst/>
          </a:prstGeom>
          <a:solidFill>
            <a:srgbClr val="D4A017"/>
          </a:solidFill>
          <a:ln w="12700">
            <a:solidFill>
              <a:srgbClr val="D4A017"/>
            </a:solidFill>
            <a:prstDash val="solid"/>
          </a:ln>
        </p:spPr>
      </p:sp>
      <p:sp>
        <p:nvSpPr>
          <p:cNvPr id="28" name="Text 26"/>
          <p:cNvSpPr/>
          <p:nvPr/>
        </p:nvSpPr>
        <p:spPr>
          <a:xfrm>
            <a:off x="4892040" y="240487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7"/>
          <p:cNvSpPr/>
          <p:nvPr/>
        </p:nvSpPr>
        <p:spPr>
          <a:xfrm>
            <a:off x="5257800" y="233172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UAV-mounted multispectral cameras for NDVI/NDRE-based N adjustment</a:t>
            </a:r>
            <a:endParaRPr lang="en-US" sz="1000" dirty="0"/>
          </a:p>
        </p:txBody>
      </p:sp>
      <p:sp>
        <p:nvSpPr>
          <p:cNvPr id="30" name="Shape 28"/>
          <p:cNvSpPr/>
          <p:nvPr/>
        </p:nvSpPr>
        <p:spPr>
          <a:xfrm>
            <a:off x="4892040" y="3227832"/>
            <a:ext cx="256032" cy="256032"/>
          </a:xfrm>
          <a:prstGeom prst="ellipse">
            <a:avLst/>
          </a:prstGeom>
          <a:solidFill>
            <a:srgbClr val="D4A017"/>
          </a:solidFill>
          <a:ln w="12700">
            <a:solidFill>
              <a:srgbClr val="D4A017"/>
            </a:solidFill>
            <a:prstDash val="solid"/>
          </a:ln>
        </p:spPr>
      </p:sp>
      <p:sp>
        <p:nvSpPr>
          <p:cNvPr id="31" name="Text 29"/>
          <p:cNvSpPr/>
          <p:nvPr/>
        </p:nvSpPr>
        <p:spPr>
          <a:xfrm>
            <a:off x="4892040" y="322783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2" name="Text 30"/>
          <p:cNvSpPr/>
          <p:nvPr/>
        </p:nvSpPr>
        <p:spPr>
          <a:xfrm>
            <a:off x="5257800" y="315468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Smart IoT-actuated drip fertigation automated by AI scheduler</a:t>
            </a:r>
            <a:endParaRPr lang="en-US" sz="1000" dirty="0"/>
          </a:p>
        </p:txBody>
      </p:sp>
      <p:sp>
        <p:nvSpPr>
          <p:cNvPr id="33" name="Shape 31"/>
          <p:cNvSpPr/>
          <p:nvPr/>
        </p:nvSpPr>
        <p:spPr>
          <a:xfrm>
            <a:off x="4892040" y="4050792"/>
            <a:ext cx="256032" cy="256032"/>
          </a:xfrm>
          <a:prstGeom prst="ellipse">
            <a:avLst/>
          </a:prstGeom>
          <a:solidFill>
            <a:srgbClr val="D4A017"/>
          </a:solidFill>
          <a:ln w="12700">
            <a:solidFill>
              <a:srgbClr val="D4A017"/>
            </a:solidFill>
            <a:prstDash val="solid"/>
          </a:ln>
        </p:spPr>
      </p:sp>
      <p:sp>
        <p:nvSpPr>
          <p:cNvPr id="34" name="Text 32"/>
          <p:cNvSpPr/>
          <p:nvPr/>
        </p:nvSpPr>
        <p:spPr>
          <a:xfrm>
            <a:off x="4892040" y="4050792"/>
            <a:ext cx="256032"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5" name="Text 33"/>
          <p:cNvSpPr/>
          <p:nvPr/>
        </p:nvSpPr>
        <p:spPr>
          <a:xfrm>
            <a:off x="5257800" y="3977640"/>
            <a:ext cx="3474720" cy="685800"/>
          </a:xfrm>
          <a:prstGeom prst="rect">
            <a:avLst/>
          </a:prstGeom>
          <a:noFill/>
          <a:ln/>
        </p:spPr>
        <p:txBody>
          <a:bodyPr wrap="square" rtlCol="0" anchor="ctr"/>
          <a:lstStyle/>
          <a:p>
            <a:pPr indent="0" marL="0">
              <a:buNone/>
            </a:pPr>
            <a:r>
              <a:rPr lang="en-US" sz="1000" dirty="0">
                <a:solidFill>
                  <a:srgbClr val="2D3436"/>
                </a:solidFill>
                <a:latin typeface="Calibri" pitchFamily="34" charset="0"/>
                <a:ea typeface="Calibri" pitchFamily="34" charset="-122"/>
                <a:cs typeface="Calibri" pitchFamily="34" charset="-120"/>
              </a:rPr>
              <a:t>Digital Twin farm models with DSSAT crop simulation for scenario testing</a:t>
            </a:r>
            <a:endParaRPr lang="en-US" sz="1000" dirty="0"/>
          </a:p>
        </p:txBody>
      </p:sp>
      <p:sp>
        <p:nvSpPr>
          <p:cNvPr id="36" name="Shape 34"/>
          <p:cNvSpPr/>
          <p:nvPr/>
        </p:nvSpPr>
        <p:spPr>
          <a:xfrm>
            <a:off x="274320" y="5029200"/>
            <a:ext cx="8595360" cy="274320"/>
          </a:xfrm>
          <a:prstGeom prst="rect">
            <a:avLst/>
          </a:prstGeom>
          <a:solidFill>
            <a:srgbClr val="F0F0F0"/>
          </a:solidFill>
          <a:ln w="12700">
            <a:solidFill>
              <a:srgbClr val="95D5B2"/>
            </a:solidFill>
            <a:prstDash val="solid"/>
          </a:ln>
        </p:spPr>
      </p:sp>
      <p:sp>
        <p:nvSpPr>
          <p:cNvPr id="37" name="Text 35"/>
          <p:cNvSpPr/>
          <p:nvPr/>
        </p:nvSpPr>
        <p:spPr>
          <a:xfrm>
            <a:off x="457200" y="5038344"/>
            <a:ext cx="8321040" cy="256032"/>
          </a:xfrm>
          <a:prstGeom prst="rect">
            <a:avLst/>
          </a:prstGeom>
          <a:noFill/>
          <a:ln/>
        </p:spPr>
        <p:txBody>
          <a:bodyPr wrap="square" rtlCol="0" anchor="ctr"/>
          <a:lstStyle/>
          <a:p>
            <a:pPr indent="0" marL="0">
              <a:buNone/>
            </a:pPr>
            <a:r>
              <a:rPr lang="en-US" sz="900" i="1" dirty="0">
                <a:solidFill>
                  <a:srgbClr val="636E72"/>
                </a:solidFill>
                <a:latin typeface="Calibri" pitchFamily="34" charset="0"/>
                <a:ea typeface="Calibri" pitchFamily="34" charset="-122"/>
                <a:cs typeface="Calibri" pitchFamily="34" charset="-120"/>
              </a:rPr>
              <a:t>+ Blockchain-Enabled Agri-Data Marketplace for transparent, farmer-monetized field data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sp>
      <p:sp>
        <p:nvSpPr>
          <p:cNvPr id="3" name="Shape 1"/>
          <p:cNvSpPr/>
          <p:nvPr/>
        </p:nvSpPr>
        <p:spPr>
          <a:xfrm>
            <a:off x="0" y="5029200"/>
            <a:ext cx="9144000" cy="109728"/>
          </a:xfrm>
          <a:prstGeom prst="rect">
            <a:avLst/>
          </a:prstGeom>
          <a:solidFill>
            <a:srgbClr val="D4A017"/>
          </a:solidFill>
          <a:ln w="12700">
            <a:solidFill>
              <a:srgbClr val="D4A017"/>
            </a:solidFill>
            <a:prstDash val="solid"/>
          </a:ln>
        </p:spPr>
      </p:sp>
      <p:sp>
        <p:nvSpPr>
          <p:cNvPr id="4" name="Shape 2"/>
          <p:cNvSpPr/>
          <p:nvPr/>
        </p:nvSpPr>
        <p:spPr>
          <a:xfrm>
            <a:off x="-457200" y="457200"/>
            <a:ext cx="2743200" cy="2743200"/>
          </a:xfrm>
          <a:prstGeom prst="ellipse">
            <a:avLst/>
          </a:prstGeom>
          <a:solidFill>
            <a:srgbClr val="2D6A4F">
              <a:alpha val="40000"/>
            </a:srgbClr>
          </a:solidFill>
          <a:ln w="12700">
            <a:solidFill>
              <a:srgbClr val="52B788"/>
            </a:solidFill>
            <a:prstDash val="solid"/>
          </a:ln>
        </p:spPr>
      </p:sp>
      <p:sp>
        <p:nvSpPr>
          <p:cNvPr id="5" name="Shape 3"/>
          <p:cNvSpPr/>
          <p:nvPr/>
        </p:nvSpPr>
        <p:spPr>
          <a:xfrm>
            <a:off x="7315200" y="2560320"/>
            <a:ext cx="2286000" cy="2286000"/>
          </a:xfrm>
          <a:prstGeom prst="ellipse">
            <a:avLst/>
          </a:prstGeom>
          <a:solidFill>
            <a:srgbClr val="2D6A4F">
              <a:alpha val="40000"/>
            </a:srgbClr>
          </a:solidFill>
          <a:ln w="12700">
            <a:solidFill>
              <a:srgbClr val="D4A017"/>
            </a:solidFill>
            <a:prstDash val="solid"/>
          </a:ln>
        </p:spPr>
      </p:sp>
      <p:sp>
        <p:nvSpPr>
          <p:cNvPr id="6" name="Text 4"/>
          <p:cNvSpPr/>
          <p:nvPr/>
        </p:nvSpPr>
        <p:spPr>
          <a:xfrm>
            <a:off x="914400" y="822960"/>
            <a:ext cx="7315200" cy="1005840"/>
          </a:xfrm>
          <a:prstGeom prst="rect">
            <a:avLst/>
          </a:prstGeom>
          <a:noFill/>
          <a:ln/>
        </p:spPr>
        <p:txBody>
          <a:bodyPr wrap="square" rtlCol="0" anchor="ctr"/>
          <a:lstStyle/>
          <a:p>
            <a:pPr algn="ctr" indent="0" marL="0">
              <a:buNone/>
            </a:pPr>
            <a:r>
              <a:rPr lang="en-US" sz="5600" b="1" dirty="0">
                <a:solidFill>
                  <a:srgbClr val="FFFFFF"/>
                </a:solidFill>
                <a:latin typeface="Georgia" pitchFamily="34" charset="0"/>
                <a:ea typeface="Georgia" pitchFamily="34" charset="-122"/>
                <a:cs typeface="Georgia" pitchFamily="34" charset="-120"/>
              </a:rPr>
              <a:t>THANK YOU</a:t>
            </a:r>
            <a:endParaRPr lang="en-US" sz="5600" dirty="0"/>
          </a:p>
        </p:txBody>
      </p:sp>
      <p:sp>
        <p:nvSpPr>
          <p:cNvPr id="7" name="Shape 5"/>
          <p:cNvSpPr/>
          <p:nvPr/>
        </p:nvSpPr>
        <p:spPr>
          <a:xfrm>
            <a:off x="2286000" y="1874520"/>
            <a:ext cx="4572000" cy="54864"/>
          </a:xfrm>
          <a:prstGeom prst="rect">
            <a:avLst/>
          </a:prstGeom>
          <a:solidFill>
            <a:srgbClr val="D4A017"/>
          </a:solidFill>
          <a:ln w="12700">
            <a:solidFill>
              <a:srgbClr val="D4A017"/>
            </a:solidFill>
            <a:prstDash val="solid"/>
          </a:ln>
        </p:spPr>
      </p:sp>
      <p:sp>
        <p:nvSpPr>
          <p:cNvPr id="8" name="Text 6"/>
          <p:cNvSpPr/>
          <p:nvPr/>
        </p:nvSpPr>
        <p:spPr>
          <a:xfrm>
            <a:off x="914400" y="2011680"/>
            <a:ext cx="7315200" cy="365760"/>
          </a:xfrm>
          <a:prstGeom prst="rect">
            <a:avLst/>
          </a:prstGeom>
          <a:noFill/>
          <a:ln/>
        </p:spPr>
        <p:txBody>
          <a:bodyPr wrap="square" rtlCol="0" anchor="ctr"/>
          <a:lstStyle/>
          <a:p>
            <a:pPr algn="ctr" indent="0" marL="0">
              <a:buNone/>
            </a:pPr>
            <a:r>
              <a:rPr lang="en-US" sz="1400" i="1" dirty="0">
                <a:solidFill>
                  <a:srgbClr val="95D5B2"/>
                </a:solidFill>
                <a:latin typeface="Calibri" pitchFamily="34" charset="0"/>
                <a:ea typeface="Calibri" pitchFamily="34" charset="-122"/>
                <a:cs typeface="Calibri" pitchFamily="34" charset="-120"/>
              </a:rPr>
              <a:t>AI &amp; ML in Agriculture | EAI-421 | UAS Bengaluru</a:t>
            </a:r>
            <a:endParaRPr lang="en-US" sz="1400" dirty="0"/>
          </a:p>
        </p:txBody>
      </p:sp>
      <p:sp>
        <p:nvSpPr>
          <p:cNvPr id="9" name="Text 7"/>
          <p:cNvSpPr/>
          <p:nvPr/>
        </p:nvSpPr>
        <p:spPr>
          <a:xfrm>
            <a:off x="1828800" y="2560320"/>
            <a:ext cx="5486400" cy="292608"/>
          </a:xfrm>
          <a:prstGeom prst="rect">
            <a:avLst/>
          </a:prstGeom>
          <a:noFill/>
          <a:ln/>
        </p:spPr>
        <p:txBody>
          <a:bodyPr wrap="square" rtlCol="0" anchor="ctr"/>
          <a:lstStyle/>
          <a:p>
            <a:pPr algn="ctr" indent="0" marL="0">
              <a:buNone/>
            </a:pPr>
            <a:r>
              <a:rPr lang="en-US" sz="1000" b="1" spc="200" kern="0" dirty="0">
                <a:solidFill>
                  <a:srgbClr val="D4A017"/>
                </a:solidFill>
                <a:latin typeface="Calibri" pitchFamily="34" charset="0"/>
                <a:ea typeface="Calibri" pitchFamily="34" charset="-122"/>
                <a:cs typeface="Calibri" pitchFamily="34" charset="-120"/>
              </a:rPr>
              <a:t>Team Members</a:t>
            </a:r>
            <a:endParaRPr lang="en-US" sz="1000" dirty="0"/>
          </a:p>
        </p:txBody>
      </p:sp>
      <p:sp>
        <p:nvSpPr>
          <p:cNvPr id="10" name="Text 8"/>
          <p:cNvSpPr/>
          <p:nvPr/>
        </p:nvSpPr>
        <p:spPr>
          <a:xfrm>
            <a:off x="914400" y="2880360"/>
            <a:ext cx="7315200" cy="36576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Vijay M D (AMB2294)  ·  Kiran Kumar N (BMB2024)  ·  Vikas H P (AMB2298)</a:t>
            </a:r>
            <a:endParaRPr lang="en-US" sz="1300" dirty="0"/>
          </a:p>
        </p:txBody>
      </p:sp>
      <p:sp>
        <p:nvSpPr>
          <p:cNvPr id="11" name="Shape 9"/>
          <p:cNvSpPr/>
          <p:nvPr/>
        </p:nvSpPr>
        <p:spPr>
          <a:xfrm>
            <a:off x="1828800" y="3383280"/>
            <a:ext cx="5486400" cy="27432"/>
          </a:xfrm>
          <a:prstGeom prst="rect">
            <a:avLst/>
          </a:prstGeom>
          <a:solidFill>
            <a:srgbClr val="2D6A4F"/>
          </a:solidFill>
          <a:ln w="12700">
            <a:solidFill>
              <a:srgbClr val="2D6A4F"/>
            </a:solidFill>
            <a:prstDash val="solid"/>
          </a:ln>
        </p:spPr>
      </p:sp>
      <p:sp>
        <p:nvSpPr>
          <p:cNvPr id="12" name="Text 10"/>
          <p:cNvSpPr/>
          <p:nvPr/>
        </p:nvSpPr>
        <p:spPr>
          <a:xfrm>
            <a:off x="914400" y="3520440"/>
            <a:ext cx="7315200" cy="292608"/>
          </a:xfrm>
          <a:prstGeom prst="rect">
            <a:avLst/>
          </a:prstGeom>
          <a:noFill/>
          <a:ln/>
        </p:spPr>
        <p:txBody>
          <a:bodyPr wrap="square" rtlCol="0" anchor="ctr"/>
          <a:lstStyle/>
          <a:p>
            <a:pPr algn="ctr" indent="0" marL="0">
              <a:buNone/>
            </a:pPr>
            <a:r>
              <a:rPr lang="en-US" sz="1100" dirty="0">
                <a:solidFill>
                  <a:srgbClr val="636E72"/>
                </a:solidFill>
                <a:latin typeface="Calibri" pitchFamily="34" charset="0"/>
                <a:ea typeface="Calibri" pitchFamily="34" charset="-122"/>
                <a:cs typeface="Calibri" pitchFamily="34" charset="-120"/>
              </a:rPr>
              <a:t>Supervised by: Course Teacher, AI &amp; ML in Agriculture</a:t>
            </a:r>
            <a:endParaRPr lang="en-US" sz="1100" dirty="0"/>
          </a:p>
        </p:txBody>
      </p:sp>
      <p:sp>
        <p:nvSpPr>
          <p:cNvPr id="13" name="Text 11"/>
          <p:cNvSpPr/>
          <p:nvPr/>
        </p:nvSpPr>
        <p:spPr>
          <a:xfrm>
            <a:off x="914400" y="3840480"/>
            <a:ext cx="7315200" cy="292608"/>
          </a:xfrm>
          <a:prstGeom prst="rect">
            <a:avLst/>
          </a:prstGeom>
          <a:noFill/>
          <a:ln/>
        </p:spPr>
        <p:txBody>
          <a:bodyPr wrap="square" rtlCol="0" anchor="ctr"/>
          <a:lstStyle/>
          <a:p>
            <a:pPr algn="ctr" indent="0" marL="0">
              <a:buNone/>
            </a:pPr>
            <a:r>
              <a:rPr lang="en-US" sz="1100" dirty="0">
                <a:solidFill>
                  <a:srgbClr val="636E72"/>
                </a:solidFill>
                <a:latin typeface="Calibri" pitchFamily="34" charset="0"/>
                <a:ea typeface="Calibri" pitchFamily="34" charset="-122"/>
                <a:cs typeface="Calibri" pitchFamily="34" charset="-120"/>
              </a:rPr>
              <a:t>College of Agriculture, GKVK · UAS Bengaluru · Rabi 2024</a:t>
            </a:r>
            <a:endParaRPr lang="en-US" sz="1100" dirty="0"/>
          </a:p>
        </p:txBody>
      </p:sp>
      <p:sp>
        <p:nvSpPr>
          <p:cNvPr id="14" name="Text 12"/>
          <p:cNvSpPr/>
          <p:nvPr/>
        </p:nvSpPr>
        <p:spPr>
          <a:xfrm>
            <a:off x="914400" y="4389120"/>
            <a:ext cx="7315200" cy="365760"/>
          </a:xfrm>
          <a:prstGeom prst="rect">
            <a:avLst/>
          </a:prstGeom>
          <a:noFill/>
          <a:ln/>
        </p:spPr>
        <p:txBody>
          <a:bodyPr wrap="square" rtlCol="0" anchor="ctr"/>
          <a:lstStyle/>
          <a:p>
            <a:pPr algn="ctr" indent="0" marL="0">
              <a:buNone/>
            </a:pPr>
            <a:r>
              <a:rPr lang="en-US" sz="1200" i="1" dirty="0">
                <a:solidFill>
                  <a:srgbClr val="D4A017"/>
                </a:solidFill>
                <a:latin typeface="Georgia" pitchFamily="34" charset="0"/>
                <a:ea typeface="Georgia" pitchFamily="34" charset="-122"/>
                <a:cs typeface="Georgia" pitchFamily="34" charset="-120"/>
              </a:rPr>
              <a:t>🌱 Precision Agriculture through Artificial Intelligence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ML in Agriculture - Chickpea Nitrogen Management</dc:title>
  <dc:subject>PptxGenJS Presentation</dc:subject>
  <dc:creator>PptxGenJS</dc:creator>
  <cp:lastModifiedBy>PptxGenJS</cp:lastModifiedBy>
  <cp:revision>1</cp:revision>
  <dcterms:created xsi:type="dcterms:W3CDTF">2026-04-01T05:26:29Z</dcterms:created>
  <dcterms:modified xsi:type="dcterms:W3CDTF">2026-04-01T05:26:29Z</dcterms:modified>
</cp:coreProperties>
</file>